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853"/>
                </a:solidFill>
                <a:latin typeface="Outfit"/>
              </a:defRPr>
            </a:pPr>
            <a:r>
              <a:rPr spc="500"/>
              <a:t>ALCHE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498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000"/>
              </a:lnSpc>
            </a:pPr>
            <a:r>
              <a:rPr sz="5200" b="0">
                <a:solidFill>
                  <a:srgbClr val="F5EDE0"/>
                </a:solidFill>
                <a:latin typeface="Cormorant Garamond"/>
              </a:rPr>
              <a:t>No longevity brand occupies
the intersection of deep science </a:t>
            </a:r>
            <a:r>
              <a:rPr sz="5200" b="0">
                <a:solidFill>
                  <a:srgbClr val="D4A853"/>
                </a:solidFill>
                <a:latin typeface="Cormorant Garamond"/>
              </a:rPr>
              <a:t>and human joy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A48F"/>
                </a:solidFill>
                <a:latin typeface="Outfit"/>
              </a:defRPr>
            </a:pPr>
            <a:r>
              <a:t>Evidence from 30 brands across the $6.8T wellness economy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108960"/>
            <a:ext cx="7315200" cy="6858"/>
          </a:xfrm>
          <a:prstGeom prst="rect">
            <a:avLst/>
          </a:prstGeom>
          <a:solidFill>
            <a:srgbClr val="4A3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3291840"/>
            <a:ext cx="2148840" cy="155448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8B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" y="3346704"/>
            <a:ext cx="2039112" cy="27432"/>
          </a:xfrm>
          <a:prstGeom prst="rect">
            <a:avLst/>
          </a:prstGeom>
          <a:solidFill>
            <a:srgbClr val="D4A85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7472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0">
                <a:solidFill>
                  <a:srgbClr val="D4A853"/>
                </a:solidFill>
                <a:latin typeface="Cormorant Garamond"/>
              </a:defRPr>
            </a:pPr>
            <a: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brands</a:t>
            </a:r>
            <a:br/>
            <a:r>
              <a:t>analyzed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3291840"/>
            <a:ext cx="2148840" cy="155448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8B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72384" y="3346704"/>
            <a:ext cx="2039112" cy="27432"/>
          </a:xfrm>
          <a:prstGeom prst="rect">
            <a:avLst/>
          </a:prstGeom>
          <a:solidFill>
            <a:srgbClr val="D4A85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347472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0">
                <a:solidFill>
                  <a:srgbClr val="D4A853"/>
                </a:solidFill>
                <a:latin typeface="Cormorant Garamond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2062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positioning</a:t>
            </a:r>
            <a:br/>
            <a:r>
              <a:t>axes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3291840"/>
            <a:ext cx="2148840" cy="155448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8B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9824" y="3346704"/>
            <a:ext cx="2039112" cy="27432"/>
          </a:xfrm>
          <a:prstGeom prst="rect">
            <a:avLst/>
          </a:prstGeom>
          <a:solidFill>
            <a:srgbClr val="D4A85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347472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0">
                <a:solidFill>
                  <a:srgbClr val="D4A853"/>
                </a:solidFill>
                <a:latin typeface="Cormorant Garamond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2062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in the</a:t>
            </a:r>
            <a:br/>
            <a:r>
              <a:t>white 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634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7A6F5E"/>
                </a:solidFill>
                <a:latin typeface="Outfit"/>
              </a:defRPr>
            </a:pPr>
            <a:r>
              <a:rPr spc="150"/>
              <a:t>Competitive Positioning Analysis  ·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7A6F5E"/>
                </a:solidFill>
                <a:latin typeface="Outfit"/>
              </a:defRPr>
            </a:pPr>
            <a:r>
              <a:rPr spc="350"/>
              <a:t>01  —  THE RETENTION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434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0">
                <a:solidFill>
                  <a:srgbClr val="4A3F33"/>
                </a:solidFill>
                <a:latin typeface="Cormorant Garamond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3800" b="0">
                <a:solidFill>
                  <a:srgbClr val="F5EDE0"/>
                </a:solidFill>
                <a:latin typeface="Cormorant Garamond"/>
              </a:defRPr>
            </a:pPr>
            <a:r>
              <a:t>90% of wearable users abandon their</a:t>
            </a:r>
            <a:br/>
            <a:r>
              <a:t>device within 12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474720" cy="256032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8B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" y="1609344"/>
            <a:ext cx="3364992" cy="27432"/>
          </a:xfrm>
          <a:prstGeom prst="rect">
            <a:avLst/>
          </a:prstGeom>
          <a:solidFill>
            <a:srgbClr val="D4A85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0">
                <a:solidFill>
                  <a:srgbClr val="D4A853"/>
                </a:solidFill>
                <a:latin typeface="Cormorant Garamond"/>
              </a:defRPr>
            </a:pPr>
            <a:r>
              <a:t>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wearable</a:t>
            </a:r>
            <a:br/>
            <a:r>
              <a:t>abandonment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554480"/>
            <a:ext cx="2560320" cy="155448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8B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09744" y="1609344"/>
            <a:ext cx="2450592" cy="27432"/>
          </a:xfrm>
          <a:prstGeom prst="rect">
            <a:avLst/>
          </a:prstGeom>
          <a:solidFill>
            <a:srgbClr val="D4A85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737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0">
                <a:solidFill>
                  <a:srgbClr val="E8C97A"/>
                </a:solidFill>
                <a:latin typeface="Cormorant Garamond"/>
              </a:defRPr>
            </a:pPr>
            <a:r>
              <a:t>3.4%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health app retention</a:t>
            </a:r>
            <a:br/>
            <a:r>
              <a:t>at day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337560"/>
            <a:ext cx="3749039" cy="77724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5E5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34290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50" b="0">
                <a:solidFill>
                  <a:srgbClr val="F5EDE0"/>
                </a:solidFill>
                <a:latin typeface="Cormorant Garamond"/>
              </a:defRPr>
            </a:pPr>
            <a:r>
              <a:t>The current model optimizes for measurement.</a:t>
            </a:r>
            <a:br/>
            <a:r>
              <a:t>Users leave anyway.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7A6F5E"/>
                </a:solidFill>
                <a:latin typeface="Outfit"/>
              </a:defRPr>
            </a:pPr>
            <a:r>
              <a:t>Sources: Industry research data on wearable retention and health app engagement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7A6F5E"/>
                </a:solidFill>
                <a:latin typeface="Outfit"/>
              </a:defRPr>
            </a:pPr>
            <a:r>
              <a:rPr spc="350"/>
              <a:t>02  —  THE BACKLASH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434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0">
                <a:solidFill>
                  <a:srgbClr val="4A3F33"/>
                </a:solidFill>
                <a:latin typeface="Cormorant Garamond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00"/>
              </a:lnSpc>
              <a:defRPr sz="3400" b="0">
                <a:solidFill>
                  <a:srgbClr val="F5EDE0"/>
                </a:solidFill>
                <a:latin typeface="Cormorant Garamond"/>
              </a:defRPr>
            </a:pPr>
            <a:r>
              <a:t>The Global Wellness Summit named the</a:t>
            </a:r>
            <a:br/>
            <a:r>
              <a:t>over-optimization backlash its #2 trend for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4114800" cy="228600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8B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" y="1563624"/>
            <a:ext cx="4005072" cy="27432"/>
          </a:xfrm>
          <a:prstGeom prst="rect">
            <a:avLst/>
          </a:prstGeom>
          <a:solidFill>
            <a:srgbClr val="D4A85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D4A853"/>
                </a:solidFill>
                <a:latin typeface="Cormorant Garamond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50" b="0">
                <a:solidFill>
                  <a:srgbClr val="F5EDE0"/>
                </a:solidFill>
                <a:latin typeface="Cormorant Garamond"/>
              </a:defRPr>
            </a:pPr>
            <a:r>
              <a:t>Wellness experiences will embrace what humans actually are: imperfect, emotional, relational and sensory.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6F5E"/>
                </a:solidFill>
                <a:latin typeface="Outfit"/>
              </a:defRPr>
            </a:pPr>
            <a:r>
              <a:rPr spc="100"/>
              <a:t>— Global Wellness Summit, Future of Wellness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5544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A853"/>
                </a:solidFill>
                <a:latin typeface="Outfit"/>
              </a:defRPr>
            </a:pPr>
            <a:r>
              <a:rPr spc="250"/>
              <a:t>Trend #2 of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783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Rehumanizing wellness — from metrics-obsessed to experience-centered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42316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A853"/>
                </a:solidFill>
                <a:latin typeface="Outfit"/>
              </a:defRPr>
            </a:pPr>
            <a:r>
              <a:rPr spc="250"/>
              <a:t>Consumer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651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Data-overload fatigue driving users away is cultural, not technical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2918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A853"/>
                </a:solidFill>
                <a:latin typeface="Outfit"/>
              </a:defRPr>
            </a:pPr>
            <a:r>
              <a:rPr spc="250"/>
              <a:t>Market implication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520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Brands combining scientific rigor with emotional resonance will capture the backlash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6344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7A6F5E"/>
                </a:solidFill>
                <a:latin typeface="Outfit"/>
              </a:defRPr>
            </a:pPr>
            <a:r>
              <a:t>Sources: GWS Future of Wellness 2026, PR Newswire, Global Wellness Institute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7A6F5E"/>
                </a:solidFill>
                <a:latin typeface="Outfit"/>
              </a:defRPr>
            </a:pPr>
            <a:r>
              <a:rPr spc="350"/>
              <a:t>03  —  THE GENDER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434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0">
                <a:solidFill>
                  <a:srgbClr val="4A3F33"/>
                </a:solidFill>
                <a:latin typeface="Cormorant Garamond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0">
                <a:solidFill>
                  <a:srgbClr val="F5EDE0"/>
                </a:solidFill>
                <a:latin typeface="Cormorant Garamond"/>
              </a:defRPr>
            </a:pPr>
            <a:r>
              <a:t>Women’s health receives 6% of private</a:t>
            </a:r>
            <a:br/>
            <a:r>
              <a:t>healthcare investment despite being 51%</a:t>
            </a:r>
            <a:br/>
            <a:r>
              <a:t>of the population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286000" cy="1874519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8B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" y="1837944"/>
            <a:ext cx="2176272" cy="27432"/>
          </a:xfrm>
          <a:prstGeom prst="rect">
            <a:avLst/>
          </a:prstGeom>
          <a:solidFill>
            <a:srgbClr val="D4A85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0">
                <a:solidFill>
                  <a:srgbClr val="D4A853"/>
                </a:solidFill>
                <a:latin typeface="Cormorant Garamond"/>
              </a:defRPr>
            </a:pPr>
            <a:r>
              <a:t>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of private healthcare</a:t>
            </a:r>
            <a:br/>
            <a:r>
              <a:t>investment goes to</a:t>
            </a:r>
            <a:br/>
            <a:r>
              <a:t>women’s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8999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7A6F5E"/>
                </a:solidFill>
                <a:latin typeface="Outfit"/>
              </a:defRPr>
            </a:pPr>
            <a:r>
              <a:t>Source: WEF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783080"/>
            <a:ext cx="2286000" cy="1874519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8B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18104" y="1837944"/>
            <a:ext cx="2176272" cy="27432"/>
          </a:xfrm>
          <a:prstGeom prst="rect">
            <a:avLst/>
          </a:prstGeom>
          <a:solidFill>
            <a:srgbClr val="D4A85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965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0">
                <a:solidFill>
                  <a:srgbClr val="D4A853"/>
                </a:solidFill>
                <a:latin typeface="Cormorant Garamond"/>
              </a:defRPr>
            </a:pPr>
            <a:r>
              <a:t>$40B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017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menopause market</a:t>
            </a:r>
            <a:br/>
            <a:r>
              <a:t>by 2030 (8× growth)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428999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7A6F5E"/>
                </a:solidFill>
                <a:latin typeface="Outfit"/>
              </a:defRPr>
            </a:pPr>
            <a:r>
              <a:t>Source: BCG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1783080"/>
            <a:ext cx="2286000" cy="1874519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8B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41264" y="1837944"/>
            <a:ext cx="2176272" cy="27432"/>
          </a:xfrm>
          <a:prstGeom prst="rect">
            <a:avLst/>
          </a:prstGeom>
          <a:solidFill>
            <a:srgbClr val="D4A85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1965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0">
                <a:solidFill>
                  <a:srgbClr val="D4A853"/>
                </a:solidFill>
                <a:latin typeface="Cormorant Garamond"/>
              </a:defRPr>
            </a:pPr>
            <a:r>
              <a:t>$100M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017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Melinda French Gates</a:t>
            </a:r>
            <a:br/>
            <a:r>
              <a:t>commitment to</a:t>
            </a:r>
            <a:br/>
            <a:r>
              <a:t>women’s health R&amp;D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428999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7A6F5E"/>
                </a:solidFill>
                <a:latin typeface="Outfit"/>
              </a:defRPr>
            </a:pPr>
            <a:r>
              <a:t>Source: Pivotal Ventures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40480"/>
            <a:ext cx="7863840" cy="64008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8B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9136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4A853"/>
                </a:solidFill>
                <a:latin typeface="Cormorant Garamond"/>
              </a:defRPr>
            </a:pPr>
            <a:r>
              <a:t>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95020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200" b="0">
                <a:solidFill>
                  <a:srgbClr val="F5EDE0"/>
                </a:solidFill>
                <a:latin typeface="Cormorant Garamond"/>
              </a:defRPr>
            </a:pPr>
            <a:r>
              <a:t>The booming longevity market, like medicine decades before it, is tacitly male.  — GWS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434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0">
                <a:solidFill>
                  <a:srgbClr val="4A3F33"/>
                </a:solidFill>
                <a:latin typeface="Cormorant Garamond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7A6F5E"/>
                </a:solidFill>
                <a:latin typeface="Outfit"/>
              </a:defRPr>
            </a:pPr>
            <a:r>
              <a:rPr spc="350"/>
              <a:t>04  —  POSITIONING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defRPr sz="2400" b="0">
                <a:solidFill>
                  <a:srgbClr val="F5EDE0"/>
                </a:solidFill>
                <a:latin typeface="Cormorant Garamond"/>
              </a:defRPr>
            </a:pPr>
            <a:r>
              <a:t>30 brands plotted on 4 axes — the top-right quadrant is empty</a:t>
            </a:r>
          </a:p>
        </p:txBody>
      </p:sp>
      <p:pic>
        <p:nvPicPr>
          <p:cNvPr id="6" name="Picture 5" descr="positioning-map-apothec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743" y="841248"/>
            <a:ext cx="6470513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7A6F5E"/>
                </a:solidFill>
                <a:latin typeface="Outfit"/>
              </a:defRPr>
            </a:pPr>
            <a:r>
              <a:rPr spc="350"/>
              <a:t>05  —  OPTIMIZATION-FIRST QUADRANT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434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0">
                <a:solidFill>
                  <a:srgbClr val="4A3F33"/>
                </a:solidFill>
                <a:latin typeface="Cormorant Garamond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0">
                <a:solidFill>
                  <a:srgbClr val="F5EDE0"/>
                </a:solidFill>
                <a:latin typeface="Cormorant Garamond"/>
              </a:defRPr>
            </a:pPr>
            <a:r>
              <a:t>High-science brands default to ascetic</a:t>
            </a:r>
            <a:br/>
            <a:r>
              <a:t>positioning and male-oriented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703320" cy="132588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5E5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EDE0"/>
                </a:solidFill>
                <a:latin typeface="Cormorant Garamond"/>
              </a:defRPr>
            </a:pPr>
            <a:r>
              <a:t>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853"/>
                </a:solidFill>
                <a:latin typeface="Outfit"/>
              </a:defRPr>
            </a:pPr>
            <a:r>
              <a:rPr spc="80"/>
              <a:t>Science 9.5  ·  Humanity 1.0  ·  Inclusion 1.5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B0A48F"/>
                </a:solidFill>
                <a:latin typeface="Outfit"/>
              </a:defRPr>
            </a:pPr>
            <a:r>
              <a:t>Bryan Johnson’s protocol-driven approach. Highest science, lowest humanity in dataset.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463040"/>
            <a:ext cx="3703320" cy="132588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5E5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55448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EDE0"/>
                </a:solidFill>
                <a:latin typeface="Cormorant Garamond"/>
              </a:defRPr>
            </a:pPr>
            <a:r>
              <a:t>Function 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810512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853"/>
                </a:solidFill>
                <a:latin typeface="Outfit"/>
              </a:defRPr>
            </a:pPr>
            <a:r>
              <a:rPr spc="80"/>
              <a:t>Science 8.5  ·  Humanity 3.0  ·  Inclusion 3.0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05740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B0A48F"/>
                </a:solidFill>
                <a:latin typeface="Outfit"/>
              </a:defRPr>
            </a:pPr>
            <a:r>
              <a:t>100+ biomarker testing platform. Clinical positioning, limited lifestyle integration.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71800"/>
            <a:ext cx="3703320" cy="132588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5E5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6324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EDE0"/>
                </a:solidFill>
                <a:latin typeface="Cormorant Garamond"/>
              </a:defRPr>
            </a:pPr>
            <a:r>
              <a:t>WHOOP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19272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853"/>
                </a:solidFill>
                <a:latin typeface="Outfit"/>
              </a:defRPr>
            </a:pPr>
            <a:r>
              <a:rPr spc="80"/>
              <a:t>Science 7.5  ·  Humanity 2.5  ·  Inclusion 2.0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6616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B0A48F"/>
                </a:solidFill>
                <a:latin typeface="Outfit"/>
              </a:defRPr>
            </a:pPr>
            <a:r>
              <a:t>Performance-first wearable. Core audience: male athletes and biohackers.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971800"/>
            <a:ext cx="3703320" cy="132588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5E5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306324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EDE0"/>
                </a:solidFill>
                <a:latin typeface="Cormorant Garamond"/>
              </a:defRPr>
            </a:pPr>
            <a:r>
              <a:t>Ultrahuman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319272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853"/>
                </a:solidFill>
                <a:latin typeface="Outfit"/>
              </a:defRPr>
            </a:pPr>
            <a:r>
              <a:rPr spc="80"/>
              <a:t>Science 8.0  ·  Humanity 2.5  ·  Inclusion 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56616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B0A48F"/>
                </a:solidFill>
                <a:latin typeface="Outfit"/>
              </a:defRPr>
            </a:pPr>
            <a:r>
              <a:t>Metabolic tracking via CGM. Tech-forward language, narrow demographic appeal.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7A6F5E"/>
                </a:solidFill>
                <a:latin typeface="Outfit"/>
              </a:defRPr>
            </a:pPr>
            <a:r>
              <a:rPr spc="350"/>
              <a:t>06  —  LIFESTYLE WELLNESS QUADRANT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434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0">
                <a:solidFill>
                  <a:srgbClr val="4A3F33"/>
                </a:solidFill>
                <a:latin typeface="Cormorant Garamond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0">
                <a:solidFill>
                  <a:srgbClr val="F5EDE0"/>
                </a:solidFill>
                <a:latin typeface="Cormorant Garamond"/>
              </a:defRPr>
            </a:pPr>
            <a:r>
              <a:t>High-humanity brands lack clinical depth</a:t>
            </a:r>
            <a:br/>
            <a:r>
              <a:t>or longevity specificity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703320" cy="132588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5E5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EDE0"/>
                </a:solidFill>
                <a:latin typeface="Cormorant Garamond"/>
              </a:defRPr>
            </a:pPr>
            <a:r>
              <a:t>Goop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853"/>
                </a:solidFill>
                <a:latin typeface="Outfit"/>
              </a:defRPr>
            </a:pPr>
            <a:r>
              <a:rPr spc="80"/>
              <a:t>Science 2.5  ·  Humanity 7.0  ·  Inclusion 7.0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B0A48F"/>
                </a:solidFill>
                <a:latin typeface="Outfit"/>
              </a:defRPr>
            </a:pPr>
            <a:r>
              <a:t>Lifestyle-first wellness brand. Strong cultural resonance, limited scientific credibility.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463040"/>
            <a:ext cx="3703320" cy="132588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5E5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55448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EDE0"/>
                </a:solidFill>
                <a:latin typeface="Cormorant Garamond"/>
              </a:defRPr>
            </a:pPr>
            <a:r>
              <a:t>Erewhon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810512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853"/>
                </a:solidFill>
                <a:latin typeface="Outfit"/>
              </a:defRPr>
            </a:pPr>
            <a:r>
              <a:rPr spc="80"/>
              <a:t>Science 1.5  ·  Humanity 7.5  ·  Inclusion 5.0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05740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B0A48F"/>
                </a:solidFill>
                <a:latin typeface="Outfit"/>
              </a:defRPr>
            </a:pPr>
            <a:r>
              <a:t>Premium grocery as lifestyle brand. High aspiration, minimal health-outcome depth.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71800"/>
            <a:ext cx="3703320" cy="132588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5E5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6324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EDE0"/>
                </a:solidFill>
                <a:latin typeface="Cormorant Garamond"/>
              </a:defRPr>
            </a:pPr>
            <a:r>
              <a:t>Moon Juice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19272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853"/>
                </a:solidFill>
                <a:latin typeface="Outfit"/>
              </a:defRPr>
            </a:pPr>
            <a:r>
              <a:rPr spc="80"/>
              <a:t>Science 2.0  ·  Humanity 6.5  ·  Inclusion 6.0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6616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B0A48F"/>
                </a:solidFill>
                <a:latin typeface="Outfit"/>
              </a:defRPr>
            </a:pPr>
            <a:r>
              <a:t>Adaptogen-forward product brand. Aesthetic strength without clinical grounding.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971800"/>
            <a:ext cx="3703320" cy="132588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5E5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306324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EDE0"/>
                </a:solidFill>
                <a:latin typeface="Cormorant Garamond"/>
              </a:defRPr>
            </a:pPr>
            <a:r>
              <a:t>Aman Wellness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319272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853"/>
                </a:solidFill>
                <a:latin typeface="Outfit"/>
              </a:defRPr>
            </a:pPr>
            <a:r>
              <a:rPr spc="80"/>
              <a:t>Science 3.0  ·  Humanity 7.0  ·  Inclusion 4.0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56616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B0A48F"/>
                </a:solidFill>
                <a:latin typeface="Outfit"/>
              </a:defRPr>
            </a:pPr>
            <a:r>
              <a:t>Ultra-luxury wellness hospitality. Beautiful experience, low science integration.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7A6F5E"/>
                </a:solidFill>
                <a:latin typeface="Outfit"/>
              </a:defRPr>
            </a:pPr>
            <a:r>
              <a:rPr spc="350"/>
              <a:t>07  —  CATEGORY INVERSION PRECEDENT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434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0">
                <a:solidFill>
                  <a:srgbClr val="4A3F33"/>
                </a:solidFill>
                <a:latin typeface="Cormorant Garamond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0">
                <a:solidFill>
                  <a:srgbClr val="F5EDE0"/>
                </a:solidFill>
                <a:latin typeface="Cormorant Garamond"/>
              </a:defRPr>
            </a:pPr>
            <a:r>
              <a:t>Liquid Death reached $1.4B valuation by</a:t>
            </a:r>
            <a:br/>
            <a:r>
              <a:t>inverting category conventions in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657600" cy="246888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8B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" y="1563624"/>
            <a:ext cx="3547872" cy="27432"/>
          </a:xfrm>
          <a:prstGeom prst="rect">
            <a:avLst/>
          </a:prstGeom>
          <a:solidFill>
            <a:srgbClr val="D4A85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5EDE0"/>
                </a:solidFill>
                <a:latin typeface="Cormorant Garamond"/>
              </a:defRPr>
            </a:pPr>
            <a:r>
              <a:t>Liquid Death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853"/>
                </a:solidFill>
                <a:latin typeface="Outfit"/>
              </a:defRPr>
            </a:pPr>
            <a:r>
              <a:rPr spc="80"/>
              <a:t>Commoditized water → punk aesthetic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D4A853"/>
                </a:solidFill>
                <a:latin typeface="Cormorant Garamond"/>
              </a:defRPr>
            </a:pPr>
            <a:r>
              <a:t>$1.4B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404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B0A48F"/>
                </a:solidFill>
                <a:latin typeface="Outfit"/>
              </a:defRPr>
            </a:pPr>
            <a:r>
              <a:t>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D4A853"/>
                </a:solidFill>
                <a:latin typeface="Cormorant Garamond"/>
              </a:defRPr>
            </a:pPr>
            <a:r>
              <a:t>$333M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953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B0A48F"/>
                </a:solidFill>
                <a:latin typeface="Outfit"/>
              </a:defRPr>
            </a:pPr>
            <a:r>
              <a:t>revenue (2024)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204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7A6F5E"/>
                </a:solidFill>
                <a:latin typeface="Outfit"/>
              </a:defRPr>
            </a:pPr>
            <a:r>
              <a:t>Sources: Fueler, Sacra, Entrepreneur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508760"/>
            <a:ext cx="3657600" cy="246888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8B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09744" y="1563624"/>
            <a:ext cx="3547872" cy="27432"/>
          </a:xfrm>
          <a:prstGeom prst="rect">
            <a:avLst/>
          </a:prstGeom>
          <a:solidFill>
            <a:srgbClr val="D4A85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5EDE0"/>
                </a:solidFill>
                <a:latin typeface="Cormorant Garamond"/>
              </a:defRPr>
            </a:pPr>
            <a:r>
              <a:t>MUD\WTR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199339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853"/>
                </a:solidFill>
                <a:latin typeface="Outfit"/>
              </a:defRPr>
            </a:pPr>
            <a:r>
              <a:rPr spc="80"/>
              <a:t>Anti-hustle-culture coffee alternative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D4A853"/>
                </a:solidFill>
                <a:latin typeface="Cormorant Garamond"/>
              </a:defRPr>
            </a:pPr>
            <a:r>
              <a:t>$47M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04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B0A48F"/>
                </a:solidFill>
                <a:latin typeface="Outfit"/>
              </a:defRPr>
            </a:pPr>
            <a:r>
              <a:t>revenue (2024 est.)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5204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7A6F5E"/>
                </a:solidFill>
                <a:latin typeface="Outfit"/>
              </a:defRPr>
            </a:pPr>
            <a:r>
              <a:t>Sources: ecdb, Owler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062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DE0"/>
                </a:solidFill>
                <a:latin typeface="Cormorant Garamond"/>
              </a:defRPr>
            </a:pPr>
            <a:r>
              <a:t>Neither operates in longevity. The archetype is proven but the category is untouched.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7A6F5E"/>
                </a:solidFill>
                <a:latin typeface="Outfit"/>
              </a:defRPr>
            </a:pPr>
            <a:r>
              <a:rPr spc="350"/>
              <a:t>08  —  THE PROPOSED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434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0">
                <a:solidFill>
                  <a:srgbClr val="4A3F33"/>
                </a:solidFill>
                <a:latin typeface="Cormorant Garamond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0">
                <a:solidFill>
                  <a:srgbClr val="F5EDE0"/>
                </a:solidFill>
                <a:latin typeface="Cormorant Garamond"/>
              </a:defRPr>
            </a:pPr>
            <a:r>
              <a:t>Alche sits at the intersection: clinical-grade</a:t>
            </a:r>
            <a:br/>
            <a:r>
              <a:t>science, inclusive design, joyful brand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423160" cy="288036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8B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" y="1563624"/>
            <a:ext cx="2313432" cy="27432"/>
          </a:xfrm>
          <a:prstGeom prst="rect">
            <a:avLst/>
          </a:prstGeom>
          <a:solidFill>
            <a:srgbClr val="D4A85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A853"/>
                </a:solidFill>
                <a:latin typeface="Cormorant Garamond"/>
              </a:defRPr>
            </a:pPr>
            <a:r>
              <a:t>Clinical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A48F"/>
                </a:solidFill>
                <a:latin typeface="Outfit"/>
              </a:defRPr>
            </a:pPr>
            <a:r>
              <a:rPr spc="150"/>
              <a:t>8.0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67128"/>
            <a:ext cx="548640" cy="6858"/>
          </a:xfrm>
          <a:prstGeom prst="rect">
            <a:avLst/>
          </a:prstGeom>
          <a:solidFill>
            <a:srgbClr val="4A3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•  Bloodwork &amp; biomarker panels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7063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•  AI-personalized protocols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09544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•  Evidence-based supplementation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48456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•  Longitudinal health 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1508760"/>
            <a:ext cx="2423160" cy="288036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8B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00984" y="1563624"/>
            <a:ext cx="2313432" cy="27432"/>
          </a:xfrm>
          <a:prstGeom prst="rect">
            <a:avLst/>
          </a:prstGeom>
          <a:solidFill>
            <a:srgbClr val="D4A85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6459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A853"/>
                </a:solidFill>
                <a:latin typeface="Cormorant Garamond"/>
              </a:defRPr>
            </a:pPr>
            <a:r>
              <a:t>Human Brand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1920240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A48F"/>
                </a:solidFill>
                <a:latin typeface="Outfit"/>
              </a:defRPr>
            </a:pPr>
            <a:r>
              <a:rPr spc="150"/>
              <a:t>8.5 / 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2167128"/>
            <a:ext cx="548640" cy="6858"/>
          </a:xfrm>
          <a:prstGeom prst="rect">
            <a:avLst/>
          </a:prstGeom>
          <a:solidFill>
            <a:srgbClr val="4A3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23317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•  Permission-giving, not punishing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77063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•  Lifestyle integration over restriction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209544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•  Joyful aesthetics &amp; cultural 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648456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•  Community over competition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1508760"/>
            <a:ext cx="2423160" cy="288036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8B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07024" y="1563624"/>
            <a:ext cx="2313432" cy="27432"/>
          </a:xfrm>
          <a:prstGeom prst="rect">
            <a:avLst/>
          </a:prstGeom>
          <a:solidFill>
            <a:srgbClr val="D4A85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9320" y="16459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A853"/>
                </a:solidFill>
                <a:latin typeface="Cormorant Garamond"/>
              </a:defRPr>
            </a:pPr>
            <a:r>
              <a:t>Inclusive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1920240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A48F"/>
                </a:solidFill>
                <a:latin typeface="Outfit"/>
              </a:defRPr>
            </a:pPr>
            <a:r>
              <a:rPr spc="150"/>
              <a:t>9.0 / 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2167128"/>
            <a:ext cx="548640" cy="6858"/>
          </a:xfrm>
          <a:prstGeom prst="rect">
            <a:avLst/>
          </a:prstGeom>
          <a:solidFill>
            <a:srgbClr val="4A3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20" y="23317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•  Women-first approach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277063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•  Hormonal health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209544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•  Diverse bodies &amp; life stages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3648456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•  Accessible entry points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7A6F5E"/>
                </a:solidFill>
                <a:latin typeface="Outfit"/>
              </a:defRPr>
            </a:pPr>
            <a:r>
              <a:rPr spc="350"/>
              <a:t>09  —  INTEGRATION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434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0">
                <a:solidFill>
                  <a:srgbClr val="4A3F33"/>
                </a:solidFill>
                <a:latin typeface="Cormorant Garamond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0">
                <a:solidFill>
                  <a:srgbClr val="F5EDE0"/>
                </a:solidFill>
                <a:latin typeface="Cormorant Garamond"/>
              </a:defRPr>
            </a:pPr>
            <a:r>
              <a:t>Alche scores 6/6 on integration pillars;</a:t>
            </a:r>
            <a:br/>
            <a:r>
              <a:t>the highest competitor scores 4/6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2984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A6F5E"/>
                </a:solidFill>
                <a:latin typeface="Outfit"/>
              </a:defRPr>
            </a:pPr>
            <a:r>
              <a:rPr spc="80"/>
              <a:t>Physical</a:t>
            </a:r>
            <a:br/>
            <a:r>
              <a:rPr spc="80"/>
              <a:t>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984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A6F5E"/>
                </a:solidFill>
                <a:latin typeface="Outfit"/>
              </a:defRPr>
            </a:pPr>
            <a:r>
              <a:rPr spc="80"/>
              <a:t>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2984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A6F5E"/>
                </a:solidFill>
                <a:latin typeface="Outfit"/>
              </a:defRPr>
            </a:pPr>
            <a:r>
              <a:rPr spc="80"/>
              <a:t>AI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2984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A6F5E"/>
                </a:solidFill>
                <a:latin typeface="Outfit"/>
              </a:defRPr>
            </a:pPr>
            <a:r>
              <a:rPr spc="80"/>
              <a:t>Membership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2984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A6F5E"/>
                </a:solidFill>
                <a:latin typeface="Outfit"/>
              </a:defRPr>
            </a:pPr>
            <a:r>
              <a:rPr spc="80"/>
              <a:t>Community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2984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A6F5E"/>
                </a:solidFill>
                <a:latin typeface="Outfit"/>
              </a:defRPr>
            </a:pPr>
            <a:r>
              <a:rPr spc="80"/>
              <a:t>Integrated</a:t>
            </a:r>
            <a:br/>
            <a:r>
              <a:rPr spc="80"/>
              <a:t>Info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5506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EDE0"/>
                </a:solidFill>
                <a:latin typeface="Cormorant Garamond"/>
              </a:defRPr>
            </a:pPr>
            <a:r>
              <a:t>ALCHE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65506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4A853"/>
                </a:solidFill>
                <a:latin typeface="Cormorant Garamond"/>
              </a:defRPr>
            </a:pPr>
            <a:r>
              <a:t>6/6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1600200"/>
            <a:ext cx="905256" cy="438912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165506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C2418"/>
                </a:solidFill>
                <a:latin typeface="Outfit"/>
              </a:defRPr>
            </a:pPr>
            <a: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1600200"/>
            <a:ext cx="905256" cy="438912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65506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C2418"/>
                </a:solidFill>
                <a:latin typeface="Outfit"/>
              </a:defRPr>
            </a:pPr>
            <a: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1600200"/>
            <a:ext cx="905256" cy="438912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165506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C2418"/>
                </a:solidFill>
                <a:latin typeface="Outfit"/>
              </a:defRPr>
            </a:pPr>
            <a:r>
              <a:t>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1600200"/>
            <a:ext cx="905256" cy="438912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165506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C2418"/>
                </a:solidFill>
                <a:latin typeface="Outfit"/>
              </a:defRPr>
            </a:pPr>
            <a: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1600200"/>
            <a:ext cx="905256" cy="438912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65506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C2418"/>
                </a:solidFill>
                <a:latin typeface="Outfit"/>
              </a:defRPr>
            </a:pPr>
            <a:r>
              <a:t>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0" y="1600200"/>
            <a:ext cx="905256" cy="438912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165506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C2418"/>
                </a:solidFill>
                <a:latin typeface="Outfit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2037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A48F"/>
                </a:solidFill>
                <a:latin typeface="Cormorant Garamond"/>
              </a:defRPr>
            </a:pPr>
            <a:r>
              <a:t>Life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20370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8B7442"/>
                </a:solidFill>
                <a:latin typeface="Cormorant Garamond"/>
              </a:defRPr>
            </a:pPr>
            <a:r>
              <a:t>4/6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80" y="2148840"/>
            <a:ext cx="905256" cy="438912"/>
          </a:xfrm>
          <a:prstGeom prst="roundRect">
            <a:avLst/>
          </a:prstGeom>
          <a:solidFill>
            <a:srgbClr val="8B744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220370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EDE0"/>
                </a:solidFill>
                <a:latin typeface="Outfit"/>
              </a:defRPr>
            </a:pPr>
            <a:r>
              <a:t>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2148840"/>
            <a:ext cx="905256" cy="438912"/>
          </a:xfrm>
          <a:prstGeom prst="roundRect">
            <a:avLst/>
          </a:prstGeom>
          <a:solidFill>
            <a:srgbClr val="8B744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220370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EDE0"/>
                </a:solidFill>
                <a:latin typeface="Outfit"/>
              </a:defRPr>
            </a:pPr>
            <a: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31920" y="2148840"/>
            <a:ext cx="905256" cy="438912"/>
          </a:xfrm>
          <a:prstGeom prst="roundRect">
            <a:avLst/>
          </a:prstGeom>
          <a:solidFill>
            <a:srgbClr val="8B744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220370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EDE0"/>
                </a:solidFill>
                <a:latin typeface="Outfit"/>
              </a:defRPr>
            </a:pPr>
            <a:r>
              <a:t>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92040" y="2148840"/>
            <a:ext cx="905256" cy="438912"/>
          </a:xfrm>
          <a:prstGeom prst="roundRect">
            <a:avLst/>
          </a:prstGeom>
          <a:solidFill>
            <a:srgbClr val="8B744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6360" y="220370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EDE0"/>
                </a:solidFill>
                <a:latin typeface="Outfit"/>
              </a:defRPr>
            </a:pPr>
            <a:r>
              <a:t>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52160" y="2148840"/>
            <a:ext cx="905256" cy="438912"/>
          </a:xfrm>
          <a:prstGeom prst="roundRect">
            <a:avLst/>
          </a:prstGeom>
          <a:solidFill>
            <a:srgbClr val="342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220370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3F33"/>
                </a:solidFill>
                <a:latin typeface="Outfit"/>
              </a:defRPr>
            </a:pPr>
            <a:r>
              <a:t>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12280" y="2148840"/>
            <a:ext cx="905256" cy="438912"/>
          </a:xfrm>
          <a:prstGeom prst="roundRect">
            <a:avLst/>
          </a:prstGeom>
          <a:solidFill>
            <a:srgbClr val="342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86600" y="220370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3F33"/>
                </a:solidFill>
                <a:latin typeface="Outfit"/>
              </a:defRPr>
            </a:pPr>
            <a: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275234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A48F"/>
                </a:solidFill>
                <a:latin typeface="Cormorant Garamond"/>
              </a:defRPr>
            </a:pPr>
            <a:r>
              <a:t>WHOOP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275234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B5E48"/>
                </a:solidFill>
                <a:latin typeface="Cormorant Garamond"/>
              </a:defRPr>
            </a:pPr>
            <a:r>
              <a:t>3/6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11680" y="2697480"/>
            <a:ext cx="905256" cy="438912"/>
          </a:xfrm>
          <a:prstGeom prst="roundRect">
            <a:avLst/>
          </a:prstGeom>
          <a:solidFill>
            <a:srgbClr val="342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86000" y="27523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3F33"/>
                </a:solidFill>
                <a:latin typeface="Outfit"/>
              </a:defRPr>
            </a:pPr>
            <a:r>
              <a:t>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71800" y="2697480"/>
            <a:ext cx="905256" cy="438912"/>
          </a:xfrm>
          <a:prstGeom prst="roundRect">
            <a:avLst/>
          </a:prstGeom>
          <a:solidFill>
            <a:srgbClr val="6B5E4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46120" y="27523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EDE0"/>
                </a:solidFill>
                <a:latin typeface="Outfit"/>
              </a:defRPr>
            </a:pPr>
            <a:r>
              <a:t>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31920" y="2697480"/>
            <a:ext cx="905256" cy="438912"/>
          </a:xfrm>
          <a:prstGeom prst="roundRect">
            <a:avLst/>
          </a:prstGeom>
          <a:solidFill>
            <a:srgbClr val="6B5E4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0" y="27523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EDE0"/>
                </a:solidFill>
                <a:latin typeface="Outfit"/>
              </a:defRPr>
            </a:pPr>
            <a:r>
              <a:t>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92040" y="2697480"/>
            <a:ext cx="905256" cy="438912"/>
          </a:xfrm>
          <a:prstGeom prst="roundRect">
            <a:avLst/>
          </a:prstGeom>
          <a:solidFill>
            <a:srgbClr val="6B5E4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66360" y="27523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EDE0"/>
                </a:solidFill>
                <a:latin typeface="Outfit"/>
              </a:defRPr>
            </a:pPr>
            <a:r>
              <a:t>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52160" y="2697480"/>
            <a:ext cx="905256" cy="438912"/>
          </a:xfrm>
          <a:prstGeom prst="roundRect">
            <a:avLst/>
          </a:prstGeom>
          <a:solidFill>
            <a:srgbClr val="342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27523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3F33"/>
                </a:solidFill>
                <a:latin typeface="Outfit"/>
              </a:defRPr>
            </a:pPr>
            <a:r>
              <a:t>—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12280" y="2697480"/>
            <a:ext cx="905256" cy="438912"/>
          </a:xfrm>
          <a:prstGeom prst="roundRect">
            <a:avLst/>
          </a:prstGeom>
          <a:solidFill>
            <a:srgbClr val="342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86600" y="27523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3F33"/>
                </a:solidFill>
                <a:latin typeface="Outfit"/>
              </a:defRPr>
            </a:pPr>
            <a: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330098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A48F"/>
                </a:solidFill>
                <a:latin typeface="Cormorant Garamond"/>
              </a:defRPr>
            </a:pPr>
            <a:r>
              <a:t>Equinox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0" y="330098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5E5240"/>
                </a:solidFill>
                <a:latin typeface="Cormorant Garamond"/>
              </a:defRPr>
            </a:pPr>
            <a:r>
              <a:t>3/6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011680" y="3246120"/>
            <a:ext cx="905256" cy="438912"/>
          </a:xfrm>
          <a:prstGeom prst="roundRect">
            <a:avLst/>
          </a:prstGeom>
          <a:solidFill>
            <a:srgbClr val="5E524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286000" y="33009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EDE0"/>
                </a:solidFill>
                <a:latin typeface="Outfit"/>
              </a:defRPr>
            </a:pPr>
            <a:r>
              <a:t>✓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971800" y="3246120"/>
            <a:ext cx="905256" cy="438912"/>
          </a:xfrm>
          <a:prstGeom prst="roundRect">
            <a:avLst/>
          </a:prstGeom>
          <a:solidFill>
            <a:srgbClr val="342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46120" y="33009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3F33"/>
                </a:solidFill>
                <a:latin typeface="Outfit"/>
              </a:defRPr>
            </a:pPr>
            <a:r>
              <a:t>—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931920" y="3246120"/>
            <a:ext cx="905256" cy="438912"/>
          </a:xfrm>
          <a:prstGeom prst="roundRect">
            <a:avLst/>
          </a:prstGeom>
          <a:solidFill>
            <a:srgbClr val="5E524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06240" y="33009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EDE0"/>
                </a:solidFill>
                <a:latin typeface="Outfit"/>
              </a:defRPr>
            </a:pPr>
            <a:r>
              <a:t>✓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892040" y="3246120"/>
            <a:ext cx="905256" cy="438912"/>
          </a:xfrm>
          <a:prstGeom prst="roundRect">
            <a:avLst/>
          </a:prstGeom>
          <a:solidFill>
            <a:srgbClr val="5E524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66360" y="33009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EDE0"/>
                </a:solidFill>
                <a:latin typeface="Outfit"/>
              </a:defRPr>
            </a:pPr>
            <a:r>
              <a:t>✓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852160" y="3246120"/>
            <a:ext cx="905256" cy="438912"/>
          </a:xfrm>
          <a:prstGeom prst="roundRect">
            <a:avLst/>
          </a:prstGeom>
          <a:solidFill>
            <a:srgbClr val="342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26480" y="33009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3F33"/>
                </a:solidFill>
                <a:latin typeface="Outfit"/>
              </a:defRPr>
            </a:pPr>
            <a:r>
              <a:t>—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12280" y="3246120"/>
            <a:ext cx="905256" cy="438912"/>
          </a:xfrm>
          <a:prstGeom prst="roundRect">
            <a:avLst/>
          </a:prstGeom>
          <a:solidFill>
            <a:srgbClr val="342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86600" y="33009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3F33"/>
                </a:solidFill>
                <a:latin typeface="Outfit"/>
              </a:defRPr>
            </a:pPr>
            <a: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38912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7A6F5E"/>
                </a:solidFill>
                <a:latin typeface="Outfit"/>
              </a:defRPr>
            </a:pPr>
            <a:r>
              <a:t>Source: Alche 6-pillar integration analysis of 30+ wellness &amp; longevity companies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7A6F5E"/>
                </a:solidFill>
                <a:latin typeface="Outfit"/>
              </a:defRPr>
            </a:pPr>
            <a:r>
              <a:rPr spc="350"/>
              <a:t>10  —  MARKET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434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0">
                <a:solidFill>
                  <a:srgbClr val="4A3F33"/>
                </a:solidFill>
                <a:latin typeface="Cormorant Garamond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00"/>
              </a:lnSpc>
              <a:defRPr sz="3400" b="0">
                <a:solidFill>
                  <a:srgbClr val="F5EDE0"/>
                </a:solidFill>
                <a:latin typeface="Cormorant Garamond"/>
              </a:defRPr>
            </a:pPr>
            <a:r>
              <a:t>The wellness economy is $6.8T</a:t>
            </a:r>
            <a:br/>
            <a:r>
              <a:t>and growing to $10T by 2029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2377440" cy="141732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8B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" y="1517904"/>
            <a:ext cx="2267712" cy="27432"/>
          </a:xfrm>
          <a:prstGeom prst="rect">
            <a:avLst/>
          </a:prstGeom>
          <a:solidFill>
            <a:srgbClr val="D4A85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D4A853"/>
                </a:solidFill>
                <a:latin typeface="Cormorant Garamond"/>
              </a:defRPr>
            </a:pPr>
            <a:r>
              <a:t>$6.8T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global wellness</a:t>
            </a:r>
            <a:br/>
            <a:r>
              <a:t>economy (2025)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7A6F5E"/>
                </a:solidFill>
                <a:latin typeface="Outfit"/>
              </a:defRPr>
            </a:pPr>
            <a:r>
              <a:t>Source: Global Wellness Institute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72968" y="1463040"/>
            <a:ext cx="2377440" cy="141732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8B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27832" y="1517904"/>
            <a:ext cx="2267712" cy="27432"/>
          </a:xfrm>
          <a:prstGeom prst="rect">
            <a:avLst/>
          </a:prstGeom>
          <a:solidFill>
            <a:srgbClr val="D4A85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1645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D4A853"/>
                </a:solidFill>
                <a:latin typeface="Cormorant Garamond"/>
              </a:defRPr>
            </a:pPr>
            <a:r>
              <a:t>$10T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projected</a:t>
            </a:r>
            <a:br/>
            <a:r>
              <a:t>by 2029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265176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7A6F5E"/>
                </a:solidFill>
                <a:latin typeface="Outfit"/>
              </a:defRPr>
            </a:pPr>
            <a:r>
              <a:t>Source: Global Wellness Institute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05856" y="1463040"/>
            <a:ext cx="2377440" cy="141732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8B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1517904"/>
            <a:ext cx="2267712" cy="27432"/>
          </a:xfrm>
          <a:prstGeom prst="rect">
            <a:avLst/>
          </a:prstGeom>
          <a:solidFill>
            <a:srgbClr val="D4A85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43016" y="1645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D4A853"/>
                </a:solidFill>
                <a:latin typeface="Cormorant Garamond"/>
              </a:defRPr>
            </a:pPr>
            <a:r>
              <a:t>$40B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97296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menopause market</a:t>
            </a:r>
            <a:br/>
            <a:r>
              <a:t>by 2030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7296" y="265176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7A6F5E"/>
                </a:solidFill>
                <a:latin typeface="Outfit"/>
              </a:defRPr>
            </a:pPr>
            <a:r>
              <a:t>Source: BCG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017520"/>
            <a:ext cx="2377440" cy="141732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8B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4944" y="3072384"/>
            <a:ext cx="2267712" cy="27432"/>
          </a:xfrm>
          <a:prstGeom prst="rect">
            <a:avLst/>
          </a:prstGeom>
          <a:solidFill>
            <a:srgbClr val="D4A85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200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D4A853"/>
                </a:solidFill>
                <a:latin typeface="Cormorant Garamond"/>
              </a:defRPr>
            </a:pPr>
            <a:r>
              <a:t>57%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794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prioritize aging well</a:t>
            </a:r>
            <a:br/>
            <a:r>
              <a:t>more than 5 yrs ago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0624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7A6F5E"/>
                </a:solidFill>
                <a:latin typeface="Outfit"/>
              </a:defRPr>
            </a:pPr>
            <a:r>
              <a:t>Source: NielsenIQ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72968" y="3017520"/>
            <a:ext cx="2377440" cy="141732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8B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27832" y="3072384"/>
            <a:ext cx="2267712" cy="27432"/>
          </a:xfrm>
          <a:prstGeom prst="rect">
            <a:avLst/>
          </a:prstGeom>
          <a:solidFill>
            <a:srgbClr val="D4A85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200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D4A853"/>
                </a:solidFill>
                <a:latin typeface="Cormorant Garamond"/>
              </a:defRPr>
            </a:pPr>
            <a:r>
              <a:t>84%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64408" y="3794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say wellness is</a:t>
            </a:r>
            <a:br/>
            <a:r>
              <a:t>a top priority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64408" y="420624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7A6F5E"/>
                </a:solidFill>
                <a:latin typeface="Outfit"/>
              </a:defRPr>
            </a:pPr>
            <a:r>
              <a:t>Source: McKinsey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05856" y="3017520"/>
            <a:ext cx="2377440" cy="141732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8B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720" y="3072384"/>
            <a:ext cx="2267712" cy="27432"/>
          </a:xfrm>
          <a:prstGeom prst="rect">
            <a:avLst/>
          </a:prstGeom>
          <a:solidFill>
            <a:srgbClr val="D4A85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43016" y="3200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D4A853"/>
                </a:solidFill>
                <a:latin typeface="Cormorant Garamond"/>
              </a:defRPr>
            </a:pPr>
            <a:r>
              <a:t>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97296" y="3794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50" b="0">
                <a:solidFill>
                  <a:srgbClr val="B0A48F"/>
                </a:solidFill>
                <a:latin typeface="Outfit"/>
              </a:defRPr>
            </a:pPr>
            <a:r>
              <a:t>of private healthcare</a:t>
            </a:r>
            <a:br/>
            <a:r>
              <a:t>investment → women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97296" y="420624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7A6F5E"/>
                </a:solidFill>
                <a:latin typeface="Outfit"/>
              </a:defRPr>
            </a:pPr>
            <a:r>
              <a:t>Source: WEF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7A6F5E"/>
                </a:solidFill>
                <a:latin typeface="Outfit"/>
              </a:defRPr>
            </a:pPr>
            <a:r>
              <a:rPr spc="350"/>
              <a:t>11  —  BERLIN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434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0">
                <a:solidFill>
                  <a:srgbClr val="4A3F33"/>
                </a:solidFill>
                <a:latin typeface="Cormorant Garamond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0">
                <a:solidFill>
                  <a:srgbClr val="F5EDE0"/>
                </a:solidFill>
                <a:latin typeface="Cormorant Garamond"/>
              </a:defRPr>
            </a:pPr>
            <a:r>
              <a:t>Berlin has an existing longevity scene and</a:t>
            </a:r>
            <a:br/>
            <a:r>
              <a:t>cultural DNA that aligns with the 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7863840" cy="86868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5E5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" y="1517904"/>
            <a:ext cx="7754112" cy="18288"/>
          </a:xfrm>
          <a:prstGeom prst="rect">
            <a:avLst/>
          </a:prstGeom>
          <a:solidFill>
            <a:srgbClr val="D4A853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4A853"/>
                </a:solidFill>
                <a:latin typeface="Cormorant Garamond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DE0"/>
                </a:solidFill>
                <a:latin typeface="Cormorant Garamond"/>
              </a:defRPr>
            </a:pPr>
            <a:r>
              <a:t>ANTI Berlin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92224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B0A48F"/>
                </a:solidFill>
                <a:latin typeface="Outfit"/>
              </a:defRPr>
            </a:pPr>
            <a:r>
              <a:t>Longevity + culture hybrid on Brunnenstraße. 20K Instagram followers. Single location proving demand for science-meets-lifestyle in Berlin.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30552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7A6F5E"/>
                </a:solidFill>
                <a:latin typeface="Outfit"/>
              </a:defRPr>
            </a:pPr>
            <a:r>
              <a:t>Source: IGNANT, antispaces.com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41448"/>
            <a:ext cx="7863840" cy="86868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5E5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" y="2496312"/>
            <a:ext cx="7754112" cy="18288"/>
          </a:xfrm>
          <a:prstGeom prst="rect">
            <a:avLst/>
          </a:prstGeom>
          <a:solidFill>
            <a:srgbClr val="D4A853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511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4A853"/>
                </a:solidFill>
                <a:latin typeface="Cormorant Garamond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328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DE0"/>
                </a:solidFill>
                <a:latin typeface="Cormorant Garamond"/>
              </a:defRPr>
            </a:pPr>
            <a:r>
              <a:t>Berlin Biohackers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770632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B0A48F"/>
                </a:solidFill>
                <a:latin typeface="Outfit"/>
              </a:defRPr>
            </a:pPr>
            <a:r>
              <a:t>2,213 members in the Berlin Biohackers meetup group. Active community of self-experimenters already engaged with longevity.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108960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7A6F5E"/>
                </a:solidFill>
                <a:latin typeface="Outfit"/>
              </a:defRPr>
            </a:pPr>
            <a:r>
              <a:t>Source: Meetup / Reddit research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19856"/>
            <a:ext cx="7863840" cy="868680"/>
          </a:xfrm>
          <a:prstGeom prst="roundRect">
            <a:avLst/>
          </a:prstGeom>
          <a:solidFill>
            <a:srgbClr val="40362C">
              <a:alpha val="70000"/>
            </a:srgbClr>
          </a:solidFill>
          <a:ln w="9525">
            <a:solidFill>
              <a:srgbClr val="5E5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3474720"/>
            <a:ext cx="7754112" cy="18288"/>
          </a:xfrm>
          <a:prstGeom prst="rect">
            <a:avLst/>
          </a:prstGeom>
          <a:solidFill>
            <a:srgbClr val="D4A853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295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4A853"/>
                </a:solidFill>
                <a:latin typeface="Cormorant Garamond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51129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DE0"/>
                </a:solidFill>
                <a:latin typeface="Cormorant Garamond"/>
              </a:defRPr>
            </a:pPr>
            <a:r>
              <a:t>LIFE Summit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74904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B0A48F"/>
                </a:solidFill>
                <a:latin typeface="Outfit"/>
              </a:defRPr>
            </a:pPr>
            <a:r>
              <a:t>Berlin hosting a dedicated longevity summit. The city is becoming a European hub for longevity discourse and innovation.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087368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7A6F5E"/>
                </a:solidFill>
                <a:latin typeface="Outfit"/>
              </a:defRPr>
            </a:pPr>
            <a:r>
              <a:t>Source: LIFE Summit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280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D4A853"/>
                </a:solidFill>
                <a:latin typeface="Cormorant Garamond"/>
              </a:defRPr>
            </a:pPr>
            <a:r>
              <a:rPr spc="600"/>
              <a:t>ALCHE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5EDE0"/>
                </a:solidFill>
                <a:latin typeface="Cormorant Garamond"/>
              </a:defRPr>
            </a:pPr>
            <a:r>
              <a:t>The unoccupied position in longevity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86200" y="3017520"/>
            <a:ext cx="1371600" cy="9144"/>
          </a:xfrm>
          <a:prstGeom prst="rect">
            <a:avLst/>
          </a:prstGeom>
          <a:solidFill>
            <a:srgbClr val="D4A853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291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6F5E"/>
                </a:solidFill>
                <a:latin typeface="Outfit"/>
              </a:defRPr>
            </a:pPr>
            <a:r>
              <a:rPr spc="200"/>
              <a:t>Competitive Positioning Analysis  /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