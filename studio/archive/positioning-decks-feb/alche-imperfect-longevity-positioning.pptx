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A44E"/>
                </a:solidFill>
                <a:latin typeface="Arial"/>
              </a:defRPr>
            </a:pPr>
            <a:r>
              <a:t>ALCHE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>
                <a:solidFill>
                  <a:srgbClr val="F5F0EB"/>
                </a:solidFill>
                <a:latin typeface="Arial"/>
              </a:rPr>
              <a:t>No longevity brand occupies the intersection
of deep science </a:t>
            </a:r>
            <a:r>
              <a:rPr sz="4000" b="1">
                <a:solidFill>
                  <a:srgbClr val="C8A44E"/>
                </a:solidFill>
                <a:latin typeface="Arial"/>
              </a:rPr>
              <a:t>and human joy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Evidence from 30 brands across the $6.8T wellness economy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54680"/>
            <a:ext cx="68580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/>
              </a:defRPr>
            </a:pPr>
            <a:r>
              <a:t>BRANDS ANALYZED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/>
              </a:defRPr>
            </a:pPr>
            <a:r>
              <a:t>POSITIONING AXES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/>
              </a:defRPr>
            </a:pPr>
            <a:r>
              <a:t>IN THE WHITE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Arial"/>
              </a:defRPr>
            </a:pPr>
            <a:r>
              <a:t>Competitive Positioning Analysis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01 — THE RETENTION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3200" b="1">
                <a:solidFill>
                  <a:srgbClr val="F5F0EB"/>
                </a:solidFill>
                <a:latin typeface="Arial"/>
              </a:defRPr>
            </a:pPr>
            <a:r>
              <a:t>90% of wearable users abandon their device within 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C8A44E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wearable abandonment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44E"/>
                </a:solidFill>
                <a:latin typeface="Arial"/>
              </a:defRPr>
            </a:pPr>
            <a:r>
              <a:t>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health app retention at day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834640"/>
            <a:ext cx="347472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F5F0EB"/>
                </a:solidFill>
                <a:latin typeface="Arial"/>
              </a:defRPr>
            </a:pPr>
            <a:r>
              <a:t>The current model optimizes for measurement.</a:t>
            </a:r>
            <a:br/>
            <a:r>
              <a:t>Users leave anyway.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Sources: Industry research data on wearable retention and health app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02 — THE BACKLASH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The Global Wellness Summit named the over-optimization backlash its #2 trend for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8A44E"/>
                </a:solidFill>
                <a:latin typeface="Arial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F5F0EB"/>
                </a:solidFill>
                <a:latin typeface="Arial"/>
              </a:defRPr>
            </a:pPr>
            <a:r>
              <a:t>Wellness experiences will embrace what humans actually are: imperfect, emotional, relational and sensory.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— Global Wellness Summit, Future of Wellness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44E"/>
                </a:solidFill>
                <a:latin typeface="Arial"/>
              </a:defRPr>
            </a:pPr>
            <a:r>
              <a:t>Trend #2 of 2026: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Rehumanizing wellness — moving from metrics-obsessed to experience-centered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44E"/>
                </a:solidFill>
                <a:latin typeface="Arial"/>
              </a:defRPr>
            </a:pPr>
            <a:r>
              <a:t>Consumer signal: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The data-overload fatigue driving users away from wearables is cultural, not 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383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44E"/>
                </a:solidFill>
                <a:latin typeface="Arial"/>
              </a:defRPr>
            </a:pPr>
            <a:r>
              <a:t>Market implication: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11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Brands that combine scientific rigor with emotional resonance will capture the backlash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Sources: GWS Future of Wellness 2026, PR Newswire, Global Wellness Institute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03 — THE GENDER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Women’s health receives 6% of private healthcare investment despite being 51% of the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of private healthcare investment</a:t>
            </a:r>
            <a:br/>
            <a:r>
              <a:t>goes to women's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WEF / Cosmeticsdesign-europe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$40B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68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menopause market by 2030</a:t>
            </a:r>
            <a:br/>
            <a:r>
              <a:t>(8× growth from 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971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BCG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$100M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29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>
                <a:solidFill>
                  <a:srgbClr val="CCCCCC"/>
                </a:solidFill>
                <a:latin typeface="Arial"/>
              </a:defRPr>
            </a:pPr>
            <a:r>
              <a:t>committed by Melinda French Gates</a:t>
            </a:r>
            <a:br/>
            <a:r>
              <a:t>to women's health R&amp;D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31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Pivotal Ventures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A44E"/>
                </a:solidFill>
                <a:latin typeface="Arial"/>
              </a:defRPr>
            </a:pPr>
            <a: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400" b="0">
                <a:solidFill>
                  <a:srgbClr val="F5F0EB"/>
                </a:solidFill>
                <a:latin typeface="Arial"/>
              </a:defRPr>
            </a:pPr>
            <a:r>
              <a:t>The booming longevity market, like medicine decades before it, is tacitly male.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6517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— Global Wellness Summit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004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CCCCCC"/>
                </a:solidFill>
                <a:latin typeface="Arial"/>
              </a:defRPr>
            </a:pPr>
            <a:r>
              <a:t>This creates a structural opportunity: the first longevity platform to center women’s health captures an underserved majority.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04 — POSITIONING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0EB"/>
                </a:solidFill>
                <a:latin typeface="Arial"/>
              </a:defRPr>
            </a:pPr>
            <a:r>
              <a:t>30 brands plotted on 4 axes — the top-right quadrant is empty</a:t>
            </a:r>
          </a:p>
        </p:txBody>
      </p:sp>
      <p:pic>
        <p:nvPicPr>
          <p:cNvPr id="6" name="Picture 5" descr="positioning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293" y="841248"/>
            <a:ext cx="64694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05 — OPTIMIZATION-FIRST QUADRANT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High-science brands default to ascetic positioning and male-oriented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9.5  ·  Humanity: 1.0  ·  Inclusion: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Bryan Johnson’s protocol-driven approach. Highest science score, lowest humanity score in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Function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4708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8.5  ·  Humanity: 3.0  ·  Inclusion: 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848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100+ biomarker testing platform. Clinical positioning with limited lifestyle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WHOOP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7.5  ·  Humanity: 2.5  ·  Inclusion: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Performance-first wearable. Core audience: male athletes and biohackers.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01752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1272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Ultrahuman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0156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8.0  ·  Humanity: 2.5  ·  Inclusion: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6393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Metabolic tracking via CGM. Tech-forward brand language, narrow demographic appeal.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06 — LIFESTYLE WELLNESS QUADRANT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High-humanity brands lack clinical depth or longevity specificity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Goop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708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2.5  ·  Humanity: 7.0  ·  Inclusion: 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Lifestyle-first wellness brand. Strong cultural resonance but limited scientific credibility.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Erewhon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4708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1.5  ·  Humanity: 7.5  ·  Inclusion: 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848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Premium grocery as lifestyle brand. High aspiration, minimal health-outcome depth.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272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Moon Juice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2.0  ·  Humanity: 6.5  ·  Inclusion: 6.0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Adaptogen-forward product brand. Aesthetic strength without clinical grounding.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017520"/>
            <a:ext cx="3703320" cy="132588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12724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Aman Wellness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0156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Science: 3.0  ·  Humanity: 7.0  ·  Inclusion: 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6393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Ultra-luxury wellness hospitality. Beautiful experience, low science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07 — CATEGORY INVERSION PRECEDENT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Liquid Death reached $1.4B valuation by inverting category conventions in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6616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Arial"/>
              </a:defRPr>
            </a:pPr>
            <a:r>
              <a:t>Liquid Death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Commoditized water → punk aesthetic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A44E"/>
                </a:solidFill>
                <a:latin typeface="Arial"/>
              </a:defRPr>
            </a:pPr>
            <a:r>
              <a:t>$1.4B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A44E"/>
                </a:solidFill>
                <a:latin typeface="Arial"/>
              </a:defRPr>
            </a:pPr>
            <a:r>
              <a:t>$333M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44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revenue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Sources: Fueler, Sacra, Entrepreneur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508760"/>
            <a:ext cx="3566160" cy="25603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0EB"/>
                </a:solidFill>
                <a:latin typeface="Arial"/>
              </a:defRPr>
            </a:pPr>
            <a:r>
              <a:t>MUD\WTR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A44E"/>
                </a:solidFill>
                <a:latin typeface="Arial"/>
              </a:defRPr>
            </a:pPr>
            <a:r>
              <a:t>Anti-hustle-culture coffee alternative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8A44E"/>
                </a:solidFill>
                <a:latin typeface="Arial"/>
              </a:defRPr>
            </a:pPr>
            <a:r>
              <a:t>$47M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revenue (2024 est.)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Sources: ecdb, Owler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0EB"/>
                </a:solidFill>
                <a:latin typeface="Arial"/>
              </a:defRPr>
            </a:pPr>
            <a:r>
              <a:t>Neither operates in longevity. The archetype is proven but the category is untouched.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08 — THE PROPOSED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Alche sits at the intersection: clinical-grade science, inclusive design, joyful 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423160" cy="2743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A44E"/>
                </a:solidFill>
                <a:latin typeface="Arial"/>
              </a:defRPr>
            </a:pPr>
            <a:r>
              <a:t>Clinical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8.0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67128"/>
            <a:ext cx="731520" cy="1371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Bloodwork &amp; biomarker panels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AI-personalized protocols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Evidence-based supplementation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Longitudinal health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508760"/>
            <a:ext cx="2423160" cy="2743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A44E"/>
                </a:solidFill>
                <a:latin typeface="Arial"/>
              </a:defRPr>
            </a:pPr>
            <a:r>
              <a:t>Human 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892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8.5 /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167128"/>
            <a:ext cx="731520" cy="1371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Permission-giving, not punishing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43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Lifestyle integration over restriction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154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Joyful aesthetics &amp; cultural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5661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Community over competition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508760"/>
            <a:ext cx="2423160" cy="274320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A44E"/>
                </a:solidFill>
                <a:latin typeface="Arial"/>
              </a:defRPr>
            </a:pPr>
            <a:r>
              <a:t>Inclusive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892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9.0 /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167128"/>
            <a:ext cx="731520" cy="1371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Women-first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743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Hormonal health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1546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Diverse bodies &amp; life stages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5661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•  Accessible entry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09 — INTEGRATION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Alche scores 6/6 on integration pillars; the highest competitor scores 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Physical</a:t>
            </a:r>
            <a:br/>
            <a:r>
              <a:t>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AI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258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999999"/>
                </a:solidFill>
                <a:latin typeface="Arial"/>
              </a:defRPr>
            </a:pPr>
            <a:r>
              <a:t>Integrated</a:t>
            </a:r>
            <a:br/>
            <a:r>
              <a:t>Info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0EB"/>
                </a:solidFill>
                <a:latin typeface="Arial"/>
              </a:defRPr>
            </a:pPr>
            <a:r>
              <a:t>ALCHE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733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C8A44E"/>
                </a:solidFill>
                <a:latin typeface="Arial"/>
              </a:defRPr>
            </a:pPr>
            <a:r>
              <a:t>6/6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1600200"/>
            <a:ext cx="905256" cy="457200"/>
          </a:xfrm>
          <a:prstGeom prst="round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673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Life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2677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87755"/>
                </a:solidFill>
                <a:latin typeface="Arial"/>
              </a:defRPr>
            </a:pPr>
            <a:r>
              <a:t>4/6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2194560"/>
            <a:ext cx="905256" cy="457200"/>
          </a:xfrm>
          <a:prstGeom prst="roundRect">
            <a:avLst/>
          </a:prstGeom>
          <a:solidFill>
            <a:srgbClr val="88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194560"/>
            <a:ext cx="905256" cy="457200"/>
          </a:xfrm>
          <a:prstGeom prst="roundRect">
            <a:avLst/>
          </a:prstGeom>
          <a:solidFill>
            <a:srgbClr val="88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2194560"/>
            <a:ext cx="905256" cy="457200"/>
          </a:xfrm>
          <a:prstGeom prst="roundRect">
            <a:avLst/>
          </a:prstGeom>
          <a:solidFill>
            <a:srgbClr val="88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2194560"/>
            <a:ext cx="905256" cy="457200"/>
          </a:xfrm>
          <a:prstGeom prst="roundRect">
            <a:avLst/>
          </a:prstGeom>
          <a:solidFill>
            <a:srgbClr val="887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19456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219456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2677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62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WHOOP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862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65544"/>
                </a:solidFill>
                <a:latin typeface="Arial"/>
              </a:defRPr>
            </a:pPr>
            <a:r>
              <a:t>3/6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0" y="278892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2788920"/>
            <a:ext cx="905256" cy="457200"/>
          </a:xfrm>
          <a:prstGeom prst="roundRect">
            <a:avLst/>
          </a:prstGeom>
          <a:solidFill>
            <a:srgbClr val="6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31920" y="2788920"/>
            <a:ext cx="905256" cy="457200"/>
          </a:xfrm>
          <a:prstGeom prst="roundRect">
            <a:avLst/>
          </a:prstGeom>
          <a:solidFill>
            <a:srgbClr val="6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92040" y="2788920"/>
            <a:ext cx="905256" cy="457200"/>
          </a:xfrm>
          <a:prstGeom prst="roundRect">
            <a:avLst/>
          </a:prstGeom>
          <a:solidFill>
            <a:srgbClr val="6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6636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278892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12280" y="278892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2862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3456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Equinox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34564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554433"/>
                </a:solidFill>
                <a:latin typeface="Arial"/>
              </a:defRPr>
            </a:pPr>
            <a:r>
              <a:t>3/6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11680" y="3383280"/>
            <a:ext cx="905256" cy="457200"/>
          </a:xfrm>
          <a:prstGeom prst="roundRect">
            <a:avLst/>
          </a:prstGeom>
          <a:solidFill>
            <a:srgbClr val="5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71800" y="338328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4612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31920" y="3383280"/>
            <a:ext cx="905256" cy="457200"/>
          </a:xfrm>
          <a:prstGeom prst="roundRect">
            <a:avLst/>
          </a:prstGeom>
          <a:solidFill>
            <a:srgbClr val="5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92040" y="3383280"/>
            <a:ext cx="905256" cy="457200"/>
          </a:xfrm>
          <a:prstGeom prst="roundRect">
            <a:avLst/>
          </a:prstGeom>
          <a:solidFill>
            <a:srgbClr val="55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6636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0E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852160" y="338328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12280" y="3383280"/>
            <a:ext cx="905256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3456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3891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Alche 6-pillar integration analysis of 30+ wellness &amp; longevity companies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10 — 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The wellness economy is $6.8T and growing to $10T by 2029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$6.8T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global wellness economy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Global Wellness Institute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$10T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projected by 2029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Global Wellness Institute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630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5544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$40B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659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menopause market by 2030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774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BCG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346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57%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37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prioritize aging well more</a:t>
            </a:r>
            <a:br/>
            <a:r>
              <a:t>than 5 years 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490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NielsenIQ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8346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337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of consumers say wellness</a:t>
            </a:r>
            <a:br/>
            <a:r>
              <a:t>is a top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7490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McKinsey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2834640"/>
            <a:ext cx="2423160" cy="11887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2926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8A44E"/>
                </a:solidFill>
                <a:latin typeface="Arial"/>
              </a:defRPr>
            </a:pPr>
            <a:r>
              <a:t>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3375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CCCCCC"/>
                </a:solidFill>
                <a:latin typeface="Arial"/>
              </a:defRPr>
            </a:pPr>
            <a:r>
              <a:t>of private healthcare investment</a:t>
            </a:r>
            <a:br/>
            <a:r>
              <a:t>goes to women’s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74904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WEF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389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555555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11 — BERLIN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00"/>
              </a:lnSpc>
              <a:defRPr sz="2800" b="1">
                <a:solidFill>
                  <a:srgbClr val="F5F0EB"/>
                </a:solidFill>
                <a:latin typeface="Arial"/>
              </a:defRPr>
            </a:pPr>
            <a:r>
              <a:t>Berlin has an existing longevity scene and cultural DNA that aligns with the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7863840" cy="9601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A44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361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ANTI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1051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CCCCCC"/>
                </a:solidFill>
                <a:latin typeface="Arial"/>
              </a:defRPr>
            </a:pPr>
            <a:r>
              <a:t>Longevity + culture hybrid on Brunnenstraße. 20K Instagram followers. Single location proving the demand for science-meets-lifestyle in Berlin.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IGNANT, antispaces.com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7863840" cy="9601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A44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33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Berlin Biohackers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CCCCCC"/>
                </a:solidFill>
                <a:latin typeface="Arial"/>
              </a:defRPr>
            </a:pPr>
            <a:r>
              <a:t>2,213 members in the Berlin Biohackers meetup group. Active community of self-experimenters already engaged with longevity practices.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91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Meetup / Reddit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7863840" cy="960120"/>
          </a:xfrm>
          <a:prstGeom prst="round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307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A44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30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0EB"/>
                </a:solidFill>
                <a:latin typeface="Arial"/>
              </a:defRPr>
            </a:pPr>
            <a:r>
              <a:t>LIFE Summit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050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>
                <a:solidFill>
                  <a:srgbClr val="CCCCCC"/>
                </a:solidFill>
                <a:latin typeface="Arial"/>
              </a:defRPr>
            </a:pPr>
            <a:r>
              <a:t>Berlin hosting a dedicated longevity summit. The city is becoming a European hub for longevity discourse and innovation.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89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  <a:latin typeface="Arial"/>
              </a:defRPr>
            </a:pPr>
            <a:r>
              <a:t>Source: LIFE Summit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8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C8A44E"/>
                </a:solidFill>
                <a:latin typeface="Arial"/>
              </a:defRPr>
            </a:pPr>
            <a:r>
              <a:t>ALCHE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F0EB"/>
                </a:solidFill>
                <a:latin typeface="Arial"/>
              </a:defRPr>
            </a:pPr>
            <a:r>
              <a:t>The unoccupied position in longevity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108960"/>
            <a:ext cx="18288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Arial"/>
              </a:defRPr>
            </a:pPr>
            <a:r>
              <a:t>Competitive Positioning Analysis  /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