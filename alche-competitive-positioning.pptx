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ALCHE</c:v>
                </c:pt>
              </c:strCache>
            </c:strRef>
          </c:tx>
          <c:spPr>
            <a:solidFill>
              <a:srgbClr val="C8A44E"/>
            </a:solidFill>
            <a:ln w="25400" cap="flat">
              <a:solidFill>
                <a:srgbClr val="C8A44E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8A44E"/>
              </a:solidFill>
              <a:ln w="9525" cap="flat">
                <a:solidFill>
                  <a:srgbClr val="C8A4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Space</c:v>
                  </c:pt>
                  <c:pt idx="1">
                    <c:v>Products</c:v>
                  </c:pt>
                  <c:pt idx="2">
                    <c:v>AI App</c:v>
                  </c:pt>
                  <c:pt idx="3">
                    <c:v>Member</c:v>
                  </c:pt>
                  <c:pt idx="4">
                    <c:v>Community</c:v>
                  </c:pt>
                  <c:pt idx="5">
                    <c:v>Info Sys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Life Time</c:v>
                </c:pt>
              </c:strCache>
            </c:strRef>
          </c:tx>
          <c:spPr>
            <a:solidFill>
              <a:srgbClr val="FFFFFF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Space</c:v>
                  </c:pt>
                  <c:pt idx="1">
                    <c:v>Products</c:v>
                  </c:pt>
                  <c:pt idx="2">
                    <c:v>AI App</c:v>
                  </c:pt>
                  <c:pt idx="3">
                    <c:v>Member</c:v>
                  </c:pt>
                  <c:pt idx="4">
                    <c:v>Community</c:v>
                  </c:pt>
                  <c:pt idx="5">
                    <c:v>Info Sys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0.3</c:v>
                </c:pt>
                <c:pt idx="3">
                  <c:v>5</c:v>
                </c:pt>
                <c:pt idx="4">
                  <c:v>5</c:v>
                </c:pt>
                <c:pt idx="5">
                  <c:v>0.3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WHOOP</c:v>
                </c:pt>
              </c:strCache>
            </c:strRef>
          </c:tx>
          <c:spPr>
            <a:solidFill>
              <a:srgbClr val="6B8CBE"/>
            </a:solidFill>
            <a:ln w="25400" cap="flat">
              <a:solidFill>
                <a:srgbClr val="6B8CBE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6B8CBE"/>
              </a:solidFill>
              <a:ln w="9525" cap="flat">
                <a:solidFill>
                  <a:srgbClr val="6B8CB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Space</c:v>
                  </c:pt>
                  <c:pt idx="1">
                    <c:v>Products</c:v>
                  </c:pt>
                  <c:pt idx="2">
                    <c:v>AI App</c:v>
                  </c:pt>
                  <c:pt idx="3">
                    <c:v>Member</c:v>
                  </c:pt>
                  <c:pt idx="4">
                    <c:v>Community</c:v>
                  </c:pt>
                  <c:pt idx="5">
                    <c:v>Info Sys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0.3</c:v>
                </c:pt>
                <c:pt idx="5">
                  <c:v>0.3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Zoe</c:v>
                </c:pt>
              </c:strCache>
            </c:strRef>
          </c:tx>
          <c:spPr>
            <a:solidFill>
              <a:srgbClr val="BE9B6B"/>
            </a:solidFill>
            <a:ln w="25400" cap="flat">
              <a:solidFill>
                <a:srgbClr val="BE9B6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BE9B6B"/>
              </a:solidFill>
              <a:ln w="9525" cap="flat">
                <a:solidFill>
                  <a:srgbClr val="BE9B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Space</c:v>
                  </c:pt>
                  <c:pt idx="1">
                    <c:v>Products</c:v>
                  </c:pt>
                  <c:pt idx="2">
                    <c:v>AI App</c:v>
                  </c:pt>
                  <c:pt idx="3">
                    <c:v>Member</c:v>
                  </c:pt>
                  <c:pt idx="4">
                    <c:v>Community</c:v>
                  </c:pt>
                  <c:pt idx="5">
                    <c:v>Info Sys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0.3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4444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9999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0A0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44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integrates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analyzed 30+ companies across wellness, fitness, data, clinical, and community. Not a single one delivers full integration across all six pillars.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73152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ANALYZED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56032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6032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6/6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48056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COMPETITOR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40080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0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RADAR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Integration Gap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competitor is lopsided. ALCHE fills the full hexagon.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920240"/>
            <a:ext cx="2834640" cy="640080"/>
          </a:xfrm>
          <a:prstGeom prst="rect">
            <a:avLst/>
          </a:prstGeom>
          <a:solidFill>
            <a:srgbClr val="1A1608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0" y="1920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669280" y="2697480"/>
            <a:ext cx="283464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2697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Time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0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669280" y="3474720"/>
            <a:ext cx="283464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1"/>
          <p:cNvSpPr/>
          <p:nvPr/>
        </p:nvSpPr>
        <p:spPr>
          <a:xfrm>
            <a:off x="585216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WHOOP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0" y="3474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669280" y="4251960"/>
            <a:ext cx="283464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4251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0" y="42519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COMPETITIVE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What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rightmost column is a wall of red. Nobody has an Integrated Info System.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60120"/>
                <a:gridCol w="960120"/>
                <a:gridCol w="960120"/>
                <a:gridCol w="960120"/>
                <a:gridCol w="1005840"/>
                <a:gridCol w="1005840"/>
                <a:gridCol w="100584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App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 Sys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8A4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ALCHE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A4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08"/>
                    </a:solidFill>
                  </a:tcPr>
                </a:tc>
              </a:tr>
              <a:tr h="23774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8A4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PHYSICAL-FIRST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 Time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Erewhon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Equinox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SoulCycle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Barry's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Hotel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Six Senses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8A4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PRODUCT-FIRST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MOON Juice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Thorne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Momentous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8A4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DATA/TECH-FIRST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WHOOP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Eight Sleep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Apple Health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8A4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CLINICAL-FIRST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 Health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Fountain Life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Parsley Health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 gridSpan="8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8A4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COMMUNITY-FIRST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Peloton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 My Fitness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Huberman Lab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8C9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0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0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SCATTER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vs. Category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billion-dollar companies cluster at 1–3. The right side is empty.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" y="2084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Physical-First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0" y="2194560"/>
            <a:ext cx="6217920" cy="0"/>
          </a:xfrm>
          <a:prstGeom prst="line">
            <a:avLst/>
          </a:prstGeom>
          <a:noFill/>
          <a:ln w="3810">
            <a:solidFill>
              <a:srgbClr val="44444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1440" y="26334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Product-First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71600" y="2743200"/>
            <a:ext cx="6217920" cy="0"/>
          </a:xfrm>
          <a:prstGeom prst="line">
            <a:avLst/>
          </a:prstGeom>
          <a:noFill/>
          <a:ln w="3810">
            <a:solidFill>
              <a:srgbClr val="44444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440" y="3182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Data/Tech-First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0" y="3291840"/>
            <a:ext cx="6217920" cy="0"/>
          </a:xfrm>
          <a:prstGeom prst="line">
            <a:avLst/>
          </a:prstGeom>
          <a:noFill/>
          <a:ln w="3810">
            <a:solidFill>
              <a:srgbClr val="44444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1440" y="3730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Clinical-First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71600" y="3840480"/>
            <a:ext cx="6217920" cy="0"/>
          </a:xfrm>
          <a:prstGeom prst="line">
            <a:avLst/>
          </a:prstGeom>
          <a:noFill/>
          <a:ln w="3810">
            <a:solidFill>
              <a:srgbClr val="44444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1440" y="42793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Community-First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71600" y="4389120"/>
            <a:ext cx="6217920" cy="0"/>
          </a:xfrm>
          <a:prstGeom prst="line">
            <a:avLst/>
          </a:prstGeom>
          <a:noFill/>
          <a:ln w="3810">
            <a:solidFill>
              <a:srgbClr val="444444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371600" y="1920240"/>
            <a:ext cx="0" cy="2743200"/>
          </a:xfrm>
          <a:prstGeom prst="line">
            <a:avLst/>
          </a:prstGeom>
          <a:noFill/>
          <a:ln w="3810">
            <a:solidFill>
              <a:srgbClr val="444444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234440" y="47091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07920" y="1920240"/>
            <a:ext cx="0" cy="2743200"/>
          </a:xfrm>
          <a:prstGeom prst="line">
            <a:avLst/>
          </a:prstGeom>
          <a:noFill/>
          <a:ln w="3810">
            <a:solidFill>
              <a:srgbClr val="444444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270760" y="47091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44240" y="1920240"/>
            <a:ext cx="0" cy="2743200"/>
          </a:xfrm>
          <a:prstGeom prst="line">
            <a:avLst/>
          </a:prstGeom>
          <a:noFill/>
          <a:ln w="3810">
            <a:solidFill>
              <a:srgbClr val="444444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07080" y="47091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1920240"/>
            <a:ext cx="0" cy="2743200"/>
          </a:xfrm>
          <a:prstGeom prst="line">
            <a:avLst/>
          </a:prstGeom>
          <a:noFill/>
          <a:ln w="3810">
            <a:solidFill>
              <a:srgbClr val="444444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343400" y="47091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16880" y="1920240"/>
            <a:ext cx="0" cy="2743200"/>
          </a:xfrm>
          <a:prstGeom prst="line">
            <a:avLst/>
          </a:prstGeom>
          <a:noFill/>
          <a:ln w="3810">
            <a:solidFill>
              <a:srgbClr val="444444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379720" y="47091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53200" y="1920240"/>
            <a:ext cx="0" cy="2743200"/>
          </a:xfrm>
          <a:prstGeom prst="line">
            <a:avLst/>
          </a:prstGeom>
          <a:noFill/>
          <a:ln w="3810">
            <a:solidFill>
              <a:srgbClr val="444444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416040" y="47091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1920240"/>
            <a:ext cx="0" cy="2743200"/>
          </a:xfrm>
          <a:prstGeom prst="line">
            <a:avLst/>
          </a:prstGeom>
          <a:noFill/>
          <a:ln w="3810">
            <a:solidFill>
              <a:srgbClr val="444444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452360" y="47091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0" y="491947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SCORE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035040" y="1920240"/>
            <a:ext cx="1554480" cy="2743200"/>
          </a:xfrm>
          <a:prstGeom prst="rect">
            <a:avLst/>
          </a:prstGeom>
          <a:solidFill>
            <a:srgbClr val="C8A44E">
              <a:alpha val="6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08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SPACE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98264" y="1929504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77640" y="21032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Erewhon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398264" y="2121257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77640" y="2294993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5434584" y="2198373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13960" y="2372109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Time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398264" y="2025691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2199427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SoulCycle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3361944" y="2066992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41320" y="22407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Barry's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3361944" y="2001178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41320" y="217491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Hotel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4398264" y="2286320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77640" y="246005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3361944" y="2116769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41320" y="2290505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Senses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4398264" y="2672041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77640" y="2845777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Goop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3361944" y="2572061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41320" y="2745797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 Juice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398264" y="2517192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77640" y="26909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AG1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3361944" y="2776297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41320" y="2950033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2325624" y="2807407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05000" y="2981143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Thorne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2325624" y="2643358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05000" y="281709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Momentous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4398264" y="3116417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77640" y="3290153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WHOOP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4398264" y="3117156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77640" y="32908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OURA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4398264" y="3095527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77640" y="3269263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Sleep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2325624" y="3144923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05000" y="3318659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Health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4398264" y="3064505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77640" y="3238241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4398264" y="3870609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77640" y="4044345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Health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2325624" y="3770770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05000" y="394450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Parsley Health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4398264" y="3884171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977640" y="4057907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3361944" y="3844876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941320" y="40186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Fountain Life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3361944" y="4152595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941320" y="4326331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Huberman Lab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4398264" y="4321092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977640" y="44948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My Fitness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5434584" y="4171862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13960" y="434559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4398264" y="4439421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77640" y="4613157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Noom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5434584" y="4293875"/>
            <a:ext cx="164592" cy="164592"/>
          </a:xfrm>
          <a:prstGeom prst="ellipse">
            <a:avLst/>
          </a:prstGeom>
          <a:solidFill>
            <a:srgbClr val="F5F0EB">
              <a:alpha val="30000"/>
            </a:srgbClr>
          </a:solidFill>
          <a:ln w="6350">
            <a:solidFill>
              <a:srgbClr val="F5F0EB">
                <a:alpha val="5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13960" y="4467611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Peloton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7296912" y="3090672"/>
            <a:ext cx="402336" cy="402336"/>
          </a:xfrm>
          <a:prstGeom prst="ellipse">
            <a:avLst/>
          </a:prstGeom>
          <a:solidFill>
            <a:srgbClr val="C8A44E">
              <a:alpha val="30000"/>
            </a:srgbClr>
          </a:solidFill>
          <a:ln w="25400">
            <a:solidFill>
              <a:srgbClr val="C8A44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32320" y="35478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SCORE BREAKDOWN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 Breakdown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total. Color-coded by pillar. Everyone is missing the same things.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37160" cy="137160"/>
          </a:xfrm>
          <a:prstGeom prst="rect">
            <a:avLst/>
          </a:prstGeom>
          <a:solidFill>
            <a:srgbClr val="5B8C6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664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0" y="1691640"/>
            <a:ext cx="137160" cy="137160"/>
          </a:xfrm>
          <a:prstGeom prst="rect">
            <a:avLst/>
          </a:prstGeom>
          <a:solidFill>
            <a:srgbClr val="6B8CBE"/>
          </a:solidFill>
          <a:ln/>
        </p:spPr>
      </p:sp>
      <p:sp>
        <p:nvSpPr>
          <p:cNvPr id="9" name="Text 7"/>
          <p:cNvSpPr/>
          <p:nvPr/>
        </p:nvSpPr>
        <p:spPr>
          <a:xfrm>
            <a:off x="2212848" y="1664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137160" cy="137160"/>
          </a:xfrm>
          <a:prstGeom prst="rect">
            <a:avLst/>
          </a:prstGeom>
          <a:solidFill>
            <a:srgbClr val="9B6BBE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664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137160" cy="137160"/>
          </a:xfrm>
          <a:prstGeom prst="rect">
            <a:avLst/>
          </a:prstGeom>
          <a:solidFill>
            <a:srgbClr val="BE6B8C"/>
          </a:solidFill>
          <a:ln/>
        </p:spPr>
      </p:sp>
      <p:sp>
        <p:nvSpPr>
          <p:cNvPr id="13" name="Text 11"/>
          <p:cNvSpPr/>
          <p:nvPr/>
        </p:nvSpPr>
        <p:spPr>
          <a:xfrm>
            <a:off x="4956048" y="1664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137160" cy="137160"/>
          </a:xfrm>
          <a:prstGeom prst="rect">
            <a:avLst/>
          </a:prstGeom>
          <a:solidFill>
            <a:srgbClr val="BE9B6B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664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498080" y="1691640"/>
            <a:ext cx="137160" cy="137160"/>
          </a:xfrm>
          <a:prstGeom prst="rect">
            <a:avLst/>
          </a:prstGeom>
          <a:solidFill>
            <a:srgbClr val="C8A44E"/>
          </a:solidFill>
          <a:ln/>
        </p:spPr>
      </p:sp>
      <p:sp>
        <p:nvSpPr>
          <p:cNvPr id="17" name="Text 15"/>
          <p:cNvSpPr/>
          <p:nvPr/>
        </p:nvSpPr>
        <p:spPr>
          <a:xfrm>
            <a:off x="7699248" y="1664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Sys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37160" y="1956816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645920" y="1965960"/>
            <a:ext cx="905256" cy="128016"/>
          </a:xfrm>
          <a:prstGeom prst="rect">
            <a:avLst/>
          </a:prstGeom>
          <a:solidFill>
            <a:srgbClr val="5B8C6E"/>
          </a:solidFill>
          <a:ln/>
        </p:spPr>
      </p:sp>
      <p:sp>
        <p:nvSpPr>
          <p:cNvPr id="20" name="Shape 18"/>
          <p:cNvSpPr/>
          <p:nvPr/>
        </p:nvSpPr>
        <p:spPr>
          <a:xfrm>
            <a:off x="2560320" y="1965960"/>
            <a:ext cx="905256" cy="128016"/>
          </a:xfrm>
          <a:prstGeom prst="rect">
            <a:avLst/>
          </a:prstGeom>
          <a:solidFill>
            <a:srgbClr val="6B8CBE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1965960"/>
            <a:ext cx="905256" cy="128016"/>
          </a:xfrm>
          <a:prstGeom prst="rect">
            <a:avLst/>
          </a:prstGeom>
          <a:solidFill>
            <a:srgbClr val="9B6BBE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0" y="1965960"/>
            <a:ext cx="905256" cy="128016"/>
          </a:xfrm>
          <a:prstGeom prst="rect">
            <a:avLst/>
          </a:prstGeom>
          <a:solidFill>
            <a:srgbClr val="BE6B8C"/>
          </a:solidFill>
          <a:ln/>
        </p:spPr>
      </p:sp>
      <p:sp>
        <p:nvSpPr>
          <p:cNvPr id="23" name="Shape 21"/>
          <p:cNvSpPr/>
          <p:nvPr/>
        </p:nvSpPr>
        <p:spPr>
          <a:xfrm>
            <a:off x="5303520" y="1965960"/>
            <a:ext cx="905256" cy="128016"/>
          </a:xfrm>
          <a:prstGeom prst="rect">
            <a:avLst/>
          </a:prstGeom>
          <a:solidFill>
            <a:srgbClr val="BE9B6B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1965960"/>
            <a:ext cx="905256" cy="128016"/>
          </a:xfrm>
          <a:prstGeom prst="rect">
            <a:avLst/>
          </a:prstGeom>
          <a:solidFill>
            <a:srgbClr val="C8A44E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1956816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7160" y="2107692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Time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645920" y="2116836"/>
            <a:ext cx="905256" cy="128016"/>
          </a:xfrm>
          <a:prstGeom prst="rect">
            <a:avLst/>
          </a:prstGeom>
          <a:solidFill>
            <a:srgbClr val="5B8C6E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60320" y="2116836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74720" y="2116836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389120" y="2116836"/>
            <a:ext cx="905256" cy="128016"/>
          </a:xfrm>
          <a:prstGeom prst="rect">
            <a:avLst/>
          </a:prstGeom>
          <a:solidFill>
            <a:srgbClr val="BE9B6B">
              <a:alpha val="6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269480" y="2107692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37160" y="2258568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645920" y="2267712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560320" y="2267712"/>
            <a:ext cx="905256" cy="128016"/>
          </a:xfrm>
          <a:prstGeom prst="rect">
            <a:avLst/>
          </a:prstGeom>
          <a:solidFill>
            <a:srgbClr val="9B6BBE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74720" y="2267712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9120" y="2267712"/>
            <a:ext cx="905256" cy="128016"/>
          </a:xfrm>
          <a:prstGeom prst="rect">
            <a:avLst/>
          </a:prstGeom>
          <a:solidFill>
            <a:srgbClr val="BE9B6B">
              <a:alpha val="6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269480" y="2258568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37160" y="2409444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Peloton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645920" y="2418588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560320" y="2418588"/>
            <a:ext cx="905256" cy="128016"/>
          </a:xfrm>
          <a:prstGeom prst="rect">
            <a:avLst/>
          </a:prstGeom>
          <a:solidFill>
            <a:srgbClr val="9B6BBE">
              <a:alpha val="6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74720" y="2418588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9120" y="2418588"/>
            <a:ext cx="905256" cy="128016"/>
          </a:xfrm>
          <a:prstGeom prst="rect">
            <a:avLst/>
          </a:prstGeom>
          <a:solidFill>
            <a:srgbClr val="BE9B6B">
              <a:alpha val="6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269480" y="240944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37160" y="2560320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Erewhon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645920" y="2569464"/>
            <a:ext cx="905256" cy="128016"/>
          </a:xfrm>
          <a:prstGeom prst="rect">
            <a:avLst/>
          </a:prstGeom>
          <a:solidFill>
            <a:srgbClr val="5B8C6E">
              <a:alpha val="6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560320" y="2569464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474720" y="2569464"/>
            <a:ext cx="905256" cy="128016"/>
          </a:xfrm>
          <a:prstGeom prst="rect">
            <a:avLst/>
          </a:prstGeom>
          <a:solidFill>
            <a:srgbClr val="BE9B6B">
              <a:alpha val="6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269480" y="2560320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37160" y="2711196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645920" y="2720340"/>
            <a:ext cx="905256" cy="128016"/>
          </a:xfrm>
          <a:prstGeom prst="rect">
            <a:avLst/>
          </a:prstGeom>
          <a:solidFill>
            <a:srgbClr val="5B8C6E">
              <a:alpha val="6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560320" y="2720340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474720" y="2720340"/>
            <a:ext cx="905256" cy="128016"/>
          </a:xfrm>
          <a:prstGeom prst="rect">
            <a:avLst/>
          </a:prstGeom>
          <a:solidFill>
            <a:srgbClr val="BE9B6B">
              <a:alpha val="6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269480" y="2711196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37160" y="2862072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SoulCycle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645920" y="2871216"/>
            <a:ext cx="905256" cy="128016"/>
          </a:xfrm>
          <a:prstGeom prst="rect">
            <a:avLst/>
          </a:prstGeom>
          <a:solidFill>
            <a:srgbClr val="5B8C6E">
              <a:alpha val="6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2560320" y="2871216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474720" y="2871216"/>
            <a:ext cx="905256" cy="128016"/>
          </a:xfrm>
          <a:prstGeom prst="rect">
            <a:avLst/>
          </a:prstGeom>
          <a:solidFill>
            <a:srgbClr val="BE9B6B">
              <a:alpha val="6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269480" y="2862072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37160" y="3012948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645920" y="3022092"/>
            <a:ext cx="905256" cy="128016"/>
          </a:xfrm>
          <a:prstGeom prst="rect">
            <a:avLst/>
          </a:prstGeom>
          <a:solidFill>
            <a:srgbClr val="5B8C6E">
              <a:alpha val="6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2560320" y="3022092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3474720" y="3022092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7269480" y="3012948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37160" y="3163824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Goop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645920" y="3172968"/>
            <a:ext cx="905256" cy="128016"/>
          </a:xfrm>
          <a:prstGeom prst="rect">
            <a:avLst/>
          </a:prstGeom>
          <a:solidFill>
            <a:srgbClr val="5B8C6E">
              <a:alpha val="6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560320" y="3172968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474720" y="3172968"/>
            <a:ext cx="905256" cy="128016"/>
          </a:xfrm>
          <a:prstGeom prst="rect">
            <a:avLst/>
          </a:prstGeom>
          <a:solidFill>
            <a:srgbClr val="BE9B6B">
              <a:alpha val="65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7269480" y="316382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37160" y="3314700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AG1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645920" y="3323844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2560320" y="3323844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3474720" y="3323844"/>
            <a:ext cx="905256" cy="128016"/>
          </a:xfrm>
          <a:prstGeom prst="rect">
            <a:avLst/>
          </a:prstGeom>
          <a:solidFill>
            <a:srgbClr val="BE9B6B">
              <a:alpha val="65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7269480" y="3314700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37160" y="3465576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WHOOP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645920" y="3474720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2560320" y="3474720"/>
            <a:ext cx="905256" cy="128016"/>
          </a:xfrm>
          <a:prstGeom prst="rect">
            <a:avLst/>
          </a:prstGeom>
          <a:solidFill>
            <a:srgbClr val="9B6BBE">
              <a:alpha val="6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474720" y="3474720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7269480" y="3465576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37160" y="3616452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OURA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645920" y="3625596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2560320" y="3625596"/>
            <a:ext cx="905256" cy="128016"/>
          </a:xfrm>
          <a:prstGeom prst="rect">
            <a:avLst/>
          </a:prstGeom>
          <a:solidFill>
            <a:srgbClr val="9B6BBE">
              <a:alpha val="65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3474720" y="3625596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7269480" y="3616452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37160" y="3767328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Sleep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1645920" y="3776472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2560320" y="3776472"/>
            <a:ext cx="905256" cy="128016"/>
          </a:xfrm>
          <a:prstGeom prst="rect">
            <a:avLst/>
          </a:prstGeom>
          <a:solidFill>
            <a:srgbClr val="9B6BBE">
              <a:alpha val="65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3474720" y="3776472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7269480" y="3767328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37160" y="3918204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645920" y="3927348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2560320" y="3927348"/>
            <a:ext cx="905256" cy="128016"/>
          </a:xfrm>
          <a:prstGeom prst="rect">
            <a:avLst/>
          </a:prstGeom>
          <a:solidFill>
            <a:srgbClr val="9B6BBE">
              <a:alpha val="65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3474720" y="3927348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7269480" y="391820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137160" y="4069080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Health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1645920" y="4078224"/>
            <a:ext cx="905256" cy="128016"/>
          </a:xfrm>
          <a:prstGeom prst="rect">
            <a:avLst/>
          </a:prstGeom>
          <a:solidFill>
            <a:srgbClr val="9B6BBE">
              <a:alpha val="6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2560320" y="4078224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3474720" y="4078224"/>
            <a:ext cx="905256" cy="128016"/>
          </a:xfrm>
          <a:prstGeom prst="rect">
            <a:avLst/>
          </a:prstGeom>
          <a:solidFill>
            <a:srgbClr val="BE9B6B">
              <a:alpha val="65000"/>
            </a:srgbClr>
          </a:solidFill>
          <a:ln/>
        </p:spPr>
      </p:sp>
      <p:sp>
        <p:nvSpPr>
          <p:cNvPr id="98" name="Text 96"/>
          <p:cNvSpPr/>
          <p:nvPr/>
        </p:nvSpPr>
        <p:spPr>
          <a:xfrm>
            <a:off x="7269480" y="4069080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37160" y="4219956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1645920" y="4229100"/>
            <a:ext cx="905256" cy="128016"/>
          </a:xfrm>
          <a:prstGeom prst="rect">
            <a:avLst/>
          </a:prstGeom>
          <a:solidFill>
            <a:srgbClr val="5B8C6E">
              <a:alpha val="65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2560320" y="4229100"/>
            <a:ext cx="905256" cy="128016"/>
          </a:xfrm>
          <a:prstGeom prst="rect">
            <a:avLst/>
          </a:prstGeom>
          <a:solidFill>
            <a:srgbClr val="9B6BBE">
              <a:alpha val="6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3474720" y="4229100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103" name="Text 101"/>
          <p:cNvSpPr/>
          <p:nvPr/>
        </p:nvSpPr>
        <p:spPr>
          <a:xfrm>
            <a:off x="7269480" y="4219956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137160" y="4370832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My Fitness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1645920" y="4379976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2560320" y="4379976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3474720" y="4379976"/>
            <a:ext cx="905256" cy="128016"/>
          </a:xfrm>
          <a:prstGeom prst="rect">
            <a:avLst/>
          </a:prstGeom>
          <a:solidFill>
            <a:srgbClr val="BE9B6B">
              <a:alpha val="65000"/>
            </a:srgbClr>
          </a:solidFill>
          <a:ln/>
        </p:spPr>
      </p:sp>
      <p:sp>
        <p:nvSpPr>
          <p:cNvPr id="108" name="Text 106"/>
          <p:cNvSpPr/>
          <p:nvPr/>
        </p:nvSpPr>
        <p:spPr>
          <a:xfrm>
            <a:off x="7269480" y="4370832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137160" y="4521708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Noom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1645920" y="4530852"/>
            <a:ext cx="905256" cy="128016"/>
          </a:xfrm>
          <a:prstGeom prst="rect">
            <a:avLst/>
          </a:prstGeom>
          <a:solidFill>
            <a:srgbClr val="9B6BBE">
              <a:alpha val="65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2560320" y="4530852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3474720" y="4530852"/>
            <a:ext cx="905256" cy="128016"/>
          </a:xfrm>
          <a:prstGeom prst="rect">
            <a:avLst/>
          </a:prstGeom>
          <a:solidFill>
            <a:srgbClr val="BE9B6B">
              <a:alpha val="65000"/>
            </a:srgbClr>
          </a:solidFill>
          <a:ln/>
        </p:spPr>
      </p:sp>
      <p:sp>
        <p:nvSpPr>
          <p:cNvPr id="113" name="Text 111"/>
          <p:cNvSpPr/>
          <p:nvPr/>
        </p:nvSpPr>
        <p:spPr>
          <a:xfrm>
            <a:off x="7269480" y="4521708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137160" y="4672584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Barry's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1645920" y="4681728"/>
            <a:ext cx="905256" cy="128016"/>
          </a:xfrm>
          <a:prstGeom prst="rect">
            <a:avLst/>
          </a:prstGeom>
          <a:solidFill>
            <a:srgbClr val="5B8C6E">
              <a:alpha val="65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2560320" y="4681728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117" name="Text 115"/>
          <p:cNvSpPr/>
          <p:nvPr/>
        </p:nvSpPr>
        <p:spPr>
          <a:xfrm>
            <a:off x="7269480" y="467258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2/6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137160" y="4823460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Hotel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1645920" y="4832604"/>
            <a:ext cx="905256" cy="128016"/>
          </a:xfrm>
          <a:prstGeom prst="rect">
            <a:avLst/>
          </a:prstGeom>
          <a:solidFill>
            <a:srgbClr val="5B8C6E">
              <a:alpha val="65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2560320" y="4832604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121" name="Text 119"/>
          <p:cNvSpPr/>
          <p:nvPr/>
        </p:nvSpPr>
        <p:spPr>
          <a:xfrm>
            <a:off x="7269480" y="4823460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2/6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137160" y="4974336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Senses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1645920" y="4983480"/>
            <a:ext cx="905256" cy="128016"/>
          </a:xfrm>
          <a:prstGeom prst="rect">
            <a:avLst/>
          </a:prstGeom>
          <a:solidFill>
            <a:srgbClr val="5B8C6E">
              <a:alpha val="65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2560320" y="4983480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125" name="Text 123"/>
          <p:cNvSpPr/>
          <p:nvPr/>
        </p:nvSpPr>
        <p:spPr>
          <a:xfrm>
            <a:off x="7269480" y="4974336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2/6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137160" y="5125212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 Juice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1645920" y="5134356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2560320" y="5134356"/>
            <a:ext cx="905256" cy="128016"/>
          </a:xfrm>
          <a:prstGeom prst="rect">
            <a:avLst/>
          </a:prstGeom>
          <a:solidFill>
            <a:srgbClr val="BE9B6B">
              <a:alpha val="65000"/>
            </a:srgbClr>
          </a:solidFill>
          <a:ln/>
        </p:spPr>
      </p:sp>
      <p:sp>
        <p:nvSpPr>
          <p:cNvPr id="129" name="Text 127"/>
          <p:cNvSpPr/>
          <p:nvPr/>
        </p:nvSpPr>
        <p:spPr>
          <a:xfrm>
            <a:off x="7269480" y="5125212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2/6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137160" y="5276088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1645920" y="5285232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2560320" y="5285232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133" name="Text 131"/>
          <p:cNvSpPr/>
          <p:nvPr/>
        </p:nvSpPr>
        <p:spPr>
          <a:xfrm>
            <a:off x="7269480" y="5276088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2/6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137160" y="5426964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Fountain Life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1645920" y="5436108"/>
            <a:ext cx="905256" cy="128016"/>
          </a:xfrm>
          <a:prstGeom prst="rect">
            <a:avLst/>
          </a:prstGeom>
          <a:solidFill>
            <a:srgbClr val="5B8C6E">
              <a:alpha val="65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2560320" y="5436108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137" name="Text 135"/>
          <p:cNvSpPr/>
          <p:nvPr/>
        </p:nvSpPr>
        <p:spPr>
          <a:xfrm>
            <a:off x="7269480" y="542696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2/6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137160" y="5577840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Huberman Lab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1645920" y="5586984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2560320" y="5586984"/>
            <a:ext cx="905256" cy="128016"/>
          </a:xfrm>
          <a:prstGeom prst="rect">
            <a:avLst/>
          </a:prstGeom>
          <a:solidFill>
            <a:srgbClr val="BE9B6B">
              <a:alpha val="65000"/>
            </a:srgbClr>
          </a:solidFill>
          <a:ln/>
        </p:spPr>
      </p:sp>
      <p:sp>
        <p:nvSpPr>
          <p:cNvPr id="141" name="Text 139"/>
          <p:cNvSpPr/>
          <p:nvPr/>
        </p:nvSpPr>
        <p:spPr>
          <a:xfrm>
            <a:off x="7269480" y="5577840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2/6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137160" y="5728716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Thorne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1645920" y="5737860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144" name="Text 142"/>
          <p:cNvSpPr/>
          <p:nvPr/>
        </p:nvSpPr>
        <p:spPr>
          <a:xfrm>
            <a:off x="7269480" y="5728716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1/6</a:t>
            </a:r>
            <a:endParaRPr lang="en-US" sz="800" dirty="0"/>
          </a:p>
        </p:txBody>
      </p:sp>
      <p:sp>
        <p:nvSpPr>
          <p:cNvPr id="145" name="Text 143"/>
          <p:cNvSpPr/>
          <p:nvPr/>
        </p:nvSpPr>
        <p:spPr>
          <a:xfrm>
            <a:off x="137160" y="5879592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Momentous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1645920" y="5888736"/>
            <a:ext cx="905256" cy="128016"/>
          </a:xfrm>
          <a:prstGeom prst="rect">
            <a:avLst/>
          </a:prstGeom>
          <a:solidFill>
            <a:srgbClr val="6B8CBE">
              <a:alpha val="65000"/>
            </a:srgbClr>
          </a:solidFill>
          <a:ln/>
        </p:spPr>
      </p:sp>
      <p:sp>
        <p:nvSpPr>
          <p:cNvPr id="147" name="Text 145"/>
          <p:cNvSpPr/>
          <p:nvPr/>
        </p:nvSpPr>
        <p:spPr>
          <a:xfrm>
            <a:off x="7269480" y="5879592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1/6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137160" y="6030468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Health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1645920" y="6039612"/>
            <a:ext cx="905256" cy="128016"/>
          </a:xfrm>
          <a:prstGeom prst="rect">
            <a:avLst/>
          </a:prstGeom>
          <a:solidFill>
            <a:srgbClr val="9B6BBE">
              <a:alpha val="65000"/>
            </a:srgbClr>
          </a:solidFill>
          <a:ln/>
        </p:spPr>
      </p:sp>
      <p:sp>
        <p:nvSpPr>
          <p:cNvPr id="150" name="Text 148"/>
          <p:cNvSpPr/>
          <p:nvPr/>
        </p:nvSpPr>
        <p:spPr>
          <a:xfrm>
            <a:off x="7269480" y="6030468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1/6</a:t>
            </a: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137160" y="6181344"/>
            <a:ext cx="14173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Parsley Health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1645920" y="6190488"/>
            <a:ext cx="905256" cy="128016"/>
          </a:xfrm>
          <a:prstGeom prst="rect">
            <a:avLst/>
          </a:prstGeom>
          <a:solidFill>
            <a:srgbClr val="BE6B8C">
              <a:alpha val="65000"/>
            </a:srgbClr>
          </a:solidFill>
          <a:ln/>
        </p:spPr>
      </p:sp>
      <p:sp>
        <p:nvSpPr>
          <p:cNvPr id="153" name="Text 151"/>
          <p:cNvSpPr/>
          <p:nvPr/>
        </p:nvSpPr>
        <p:spPr>
          <a:xfrm>
            <a:off x="7269480" y="6181344"/>
            <a:ext cx="457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CONCEPTUAL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Proximity Is Not Integration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companies co-locate on outer rings. ALCHE connects through a data core.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417320"/>
            <a:ext cx="3840480" cy="3840480"/>
          </a:xfrm>
          <a:prstGeom prst="ellipse">
            <a:avLst/>
          </a:prstGeom>
          <a:solidFill>
            <a:srgbClr val="F5F0EB">
              <a:alpha val="2000"/>
            </a:srgbClr>
          </a:solidFill>
          <a:ln w="6350">
            <a:solidFill>
              <a:srgbClr val="44444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340096" y="12527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5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SPACE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4526280" y="1371600"/>
            <a:ext cx="91440" cy="9144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4160520" y="11430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446520" y="3291840"/>
            <a:ext cx="91440" cy="9144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1" name="Text 9"/>
          <p:cNvSpPr/>
          <p:nvPr/>
        </p:nvSpPr>
        <p:spPr>
          <a:xfrm>
            <a:off x="6281928" y="32644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Time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26280" y="5212080"/>
            <a:ext cx="91440" cy="9144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538581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SoulCycle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606040" y="3291840"/>
            <a:ext cx="91440" cy="9144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/>
          <p:nvPr/>
        </p:nvSpPr>
        <p:spPr>
          <a:xfrm>
            <a:off x="2039112" y="32644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154680" y="1920240"/>
            <a:ext cx="2834640" cy="2834640"/>
          </a:xfrm>
          <a:prstGeom prst="ellipse">
            <a:avLst/>
          </a:prstGeom>
          <a:solidFill>
            <a:srgbClr val="F5F0EB">
              <a:alpha val="2000"/>
            </a:srgbClr>
          </a:solidFill>
          <a:ln w="6350">
            <a:solidFill>
              <a:srgbClr val="444444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138928" y="175564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5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&amp; MEMBERSHIP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4526280" y="1874520"/>
            <a:ext cx="91440" cy="9144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164592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Goop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43600" y="3291840"/>
            <a:ext cx="91440" cy="9144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/>
          <p:nvPr/>
        </p:nvSpPr>
        <p:spPr>
          <a:xfrm>
            <a:off x="5779008" y="32644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AG1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26280" y="4709160"/>
            <a:ext cx="91440" cy="9144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23" name="Text 21"/>
          <p:cNvSpPr/>
          <p:nvPr/>
        </p:nvSpPr>
        <p:spPr>
          <a:xfrm>
            <a:off x="4160520" y="488289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OURA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108960" y="3291840"/>
            <a:ext cx="91440" cy="9144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25" name="Text 23"/>
          <p:cNvSpPr/>
          <p:nvPr/>
        </p:nvSpPr>
        <p:spPr>
          <a:xfrm>
            <a:off x="2542032" y="326440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WHOOP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0" y="2423160"/>
            <a:ext cx="1828800" cy="1828800"/>
          </a:xfrm>
          <a:prstGeom prst="ellipse">
            <a:avLst/>
          </a:prstGeom>
          <a:solidFill>
            <a:srgbClr val="F5F0EB">
              <a:alpha val="2000"/>
            </a:srgbClr>
          </a:solidFill>
          <a:ln w="6350">
            <a:solidFill>
              <a:srgbClr val="444444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937760" y="22585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5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4526280" y="2377440"/>
            <a:ext cx="91440" cy="9144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29" name="Text 27"/>
          <p:cNvSpPr/>
          <p:nvPr/>
        </p:nvSpPr>
        <p:spPr>
          <a:xfrm>
            <a:off x="4160520" y="214884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Huberman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318174" y="3749040"/>
            <a:ext cx="91440" cy="9144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31" name="Text 29"/>
          <p:cNvSpPr/>
          <p:nvPr/>
        </p:nvSpPr>
        <p:spPr>
          <a:xfrm>
            <a:off x="5126630" y="382219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Peloton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734386" y="3749040"/>
            <a:ext cx="91440" cy="9144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33" name="Text 31"/>
          <p:cNvSpPr/>
          <p:nvPr/>
        </p:nvSpPr>
        <p:spPr>
          <a:xfrm>
            <a:off x="3194410" y="382219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Noom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114800" y="2880360"/>
            <a:ext cx="914400" cy="914400"/>
          </a:xfrm>
          <a:prstGeom prst="ellipse">
            <a:avLst/>
          </a:prstGeom>
          <a:solidFill>
            <a:srgbClr val="F5F0EB">
              <a:alpha val="2000"/>
            </a:srgbClr>
          </a:solidFill>
          <a:ln w="6350">
            <a:solidFill>
              <a:srgbClr val="444444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4754880" y="27157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5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DATA LAYER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4526280" y="2834640"/>
            <a:ext cx="91440" cy="9144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37" name="Text 35"/>
          <p:cNvSpPr/>
          <p:nvPr/>
        </p:nvSpPr>
        <p:spPr>
          <a:xfrm>
            <a:off x="4160520" y="260604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Health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26280" y="3749040"/>
            <a:ext cx="91440" cy="9144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39" name="Text 37"/>
          <p:cNvSpPr/>
          <p:nvPr/>
        </p:nvSpPr>
        <p:spPr>
          <a:xfrm>
            <a:off x="4160520" y="39227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297680" y="3063240"/>
            <a:ext cx="548640" cy="548640"/>
          </a:xfrm>
          <a:prstGeom prst="ellipse">
            <a:avLst/>
          </a:prstGeom>
          <a:solidFill>
            <a:srgbClr val="C8A44E">
              <a:alpha val="25000"/>
            </a:srgbClr>
          </a:solidFill>
          <a:ln w="25400">
            <a:solidFill>
              <a:srgbClr val="C8A44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51960" y="326440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MARKET SILOS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Silos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vertical is its own silo. The center where all overlap is empty. Until ALCHE.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234440"/>
            <a:ext cx="2194560" cy="2194560"/>
          </a:xfrm>
          <a:prstGeom prst="ellipse">
            <a:avLst/>
          </a:prstGeom>
          <a:solidFill>
            <a:srgbClr val="5B8C6E">
              <a:alpha val="10000"/>
            </a:srgbClr>
          </a:solidFill>
          <a:ln w="10160">
            <a:solidFill>
              <a:srgbClr val="5B8C6E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9144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B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954780" y="1938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274820" y="19385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Time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344366" y="1866275"/>
            <a:ext cx="2194560" cy="2194560"/>
          </a:xfrm>
          <a:prstGeom prst="ellipse">
            <a:avLst/>
          </a:prstGeom>
          <a:solidFill>
            <a:srgbClr val="6B8CBE">
              <a:alpha val="10000"/>
            </a:srgbClr>
          </a:solidFill>
          <a:ln w="10160">
            <a:solidFill>
              <a:srgbClr val="6B8CBE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71113" y="2462395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B8C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39373" y="263931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Goop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338271" y="294369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012191" y="2888605"/>
            <a:ext cx="2194560" cy="2194560"/>
          </a:xfrm>
          <a:prstGeom prst="ellipse">
            <a:avLst/>
          </a:prstGeom>
          <a:solidFill>
            <a:srgbClr val="9B6BBE">
              <a:alpha val="10000"/>
            </a:srgbClr>
          </a:solidFill>
          <a:ln w="10160">
            <a:solidFill>
              <a:srgbClr val="9B6BBE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7284" y="4967105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B6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DATA/TECH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69845" y="407759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WHOOP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10927" y="42657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OURA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937249" y="2888605"/>
            <a:ext cx="2194560" cy="2194560"/>
          </a:xfrm>
          <a:prstGeom prst="ellipse">
            <a:avLst/>
          </a:prstGeom>
          <a:solidFill>
            <a:srgbClr val="BE6B8C">
              <a:alpha val="10000"/>
            </a:srgbClr>
          </a:solidFill>
          <a:ln w="10160">
            <a:solidFill>
              <a:srgbClr val="BE6B8C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3676" y="4967105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E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18673" y="42657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Func. Health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259755" y="407759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605074" y="1866275"/>
            <a:ext cx="2194560" cy="2194560"/>
          </a:xfrm>
          <a:prstGeom prst="ellipse">
            <a:avLst/>
          </a:prstGeom>
          <a:solidFill>
            <a:srgbClr val="BE9B6B">
              <a:alpha val="10000"/>
            </a:srgbClr>
          </a:solidFill>
          <a:ln w="10160">
            <a:solidFill>
              <a:srgbClr val="BE9B6B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09847" y="2462395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BE9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91329" y="294369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Peloton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90227" y="263931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315968" y="2990088"/>
            <a:ext cx="512064" cy="512064"/>
          </a:xfrm>
          <a:prstGeom prst="ellipse">
            <a:avLst/>
          </a:prstGeom>
          <a:solidFill>
            <a:srgbClr val="C8A44E">
              <a:alpha val="30000"/>
            </a:srgbClr>
          </a:solidFill>
          <a:ln w="31750">
            <a:solidFill>
              <a:srgbClr val="C8A4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31729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REFERENCE MODELS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Prove, What They’re Missing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= has it. Dashed outline = ALCHE adds 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874520" cy="1325880"/>
          </a:xfrm>
          <a:prstGeom prst="rect">
            <a:avLst/>
          </a:prstGeom>
          <a:solidFill>
            <a:srgbClr val="14141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920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Erewhon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92024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" y="2121408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PHYSICAL-FIRST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48640" y="23225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500" dirty="0"/>
          </a:p>
        </p:txBody>
      </p:sp>
      <p:sp>
        <p:nvSpPr>
          <p:cNvPr id="11" name="Shape 9"/>
          <p:cNvSpPr/>
          <p:nvPr/>
        </p:nvSpPr>
        <p:spPr>
          <a:xfrm>
            <a:off x="1143000" y="2331720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4144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1143000" y="2450592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6032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</a:t>
            </a:r>
            <a:endParaRPr lang="en-US" sz="500" dirty="0"/>
          </a:p>
        </p:txBody>
      </p:sp>
      <p:sp>
        <p:nvSpPr>
          <p:cNvPr id="15" name="Shape 13"/>
          <p:cNvSpPr/>
          <p:nvPr/>
        </p:nvSpPr>
        <p:spPr>
          <a:xfrm>
            <a:off x="1143000" y="2569464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48640" y="26791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500" dirty="0"/>
          </a:p>
        </p:txBody>
      </p:sp>
      <p:sp>
        <p:nvSpPr>
          <p:cNvPr id="17" name="Shape 15"/>
          <p:cNvSpPr/>
          <p:nvPr/>
        </p:nvSpPr>
        <p:spPr>
          <a:xfrm>
            <a:off x="1143000" y="2688336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48640" y="279806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500" dirty="0"/>
          </a:p>
        </p:txBody>
      </p:sp>
      <p:sp>
        <p:nvSpPr>
          <p:cNvPr id="19" name="Shape 17"/>
          <p:cNvSpPr/>
          <p:nvPr/>
        </p:nvSpPr>
        <p:spPr>
          <a:xfrm>
            <a:off x="1143000" y="2807208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1693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Sys</a:t>
            </a:r>
            <a:endParaRPr lang="en-US" sz="500" dirty="0"/>
          </a:p>
        </p:txBody>
      </p:sp>
      <p:sp>
        <p:nvSpPr>
          <p:cNvPr id="21" name="Shape 19"/>
          <p:cNvSpPr/>
          <p:nvPr/>
        </p:nvSpPr>
        <p:spPr>
          <a:xfrm>
            <a:off x="1143000" y="2926080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542032" y="1828800"/>
            <a:ext cx="1874520" cy="1325880"/>
          </a:xfrm>
          <a:prstGeom prst="rect">
            <a:avLst/>
          </a:prstGeom>
          <a:solidFill>
            <a:srgbClr val="14141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1920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59352" y="192024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2121408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PHYSICAL-FIRST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587752" y="23225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500" dirty="0"/>
          </a:p>
        </p:txBody>
      </p:sp>
      <p:sp>
        <p:nvSpPr>
          <p:cNvPr id="27" name="Shape 25"/>
          <p:cNvSpPr/>
          <p:nvPr/>
        </p:nvSpPr>
        <p:spPr>
          <a:xfrm>
            <a:off x="3182112" y="2331720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587752" y="244144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500" dirty="0"/>
          </a:p>
        </p:txBody>
      </p:sp>
      <p:sp>
        <p:nvSpPr>
          <p:cNvPr id="29" name="Shape 27"/>
          <p:cNvSpPr/>
          <p:nvPr/>
        </p:nvSpPr>
        <p:spPr>
          <a:xfrm>
            <a:off x="3182112" y="2450592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587752" y="256032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3182112" y="2569464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587752" y="26791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3182112" y="2688336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587752" y="279806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3182112" y="2807208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587752" y="291693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Sys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3182112" y="2926080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581144" y="1828800"/>
            <a:ext cx="1874520" cy="1325880"/>
          </a:xfrm>
          <a:prstGeom prst="rect">
            <a:avLst/>
          </a:prstGeom>
          <a:solidFill>
            <a:srgbClr val="14141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90872" y="1920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98464" y="192024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90872" y="2121408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DATA/TECH-FIRST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626864" y="23225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5221224" y="2331720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4626864" y="244144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500" dirty="0"/>
          </a:p>
        </p:txBody>
      </p:sp>
      <p:sp>
        <p:nvSpPr>
          <p:cNvPr id="45" name="Shape 43"/>
          <p:cNvSpPr/>
          <p:nvPr/>
        </p:nvSpPr>
        <p:spPr>
          <a:xfrm>
            <a:off x="5221224" y="2450592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626864" y="256032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5221224" y="2569464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626864" y="26791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500" dirty="0"/>
          </a:p>
        </p:txBody>
      </p:sp>
      <p:sp>
        <p:nvSpPr>
          <p:cNvPr id="49" name="Shape 47"/>
          <p:cNvSpPr/>
          <p:nvPr/>
        </p:nvSpPr>
        <p:spPr>
          <a:xfrm>
            <a:off x="5221224" y="2688336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626864" y="279806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500" dirty="0"/>
          </a:p>
        </p:txBody>
      </p:sp>
      <p:sp>
        <p:nvSpPr>
          <p:cNvPr id="51" name="Shape 49"/>
          <p:cNvSpPr/>
          <p:nvPr/>
        </p:nvSpPr>
        <p:spPr>
          <a:xfrm>
            <a:off x="5221224" y="2807208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4626864" y="291693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Sys</a:t>
            </a:r>
            <a:endParaRPr lang="en-US" sz="500" dirty="0"/>
          </a:p>
        </p:txBody>
      </p:sp>
      <p:sp>
        <p:nvSpPr>
          <p:cNvPr id="53" name="Shape 51"/>
          <p:cNvSpPr/>
          <p:nvPr/>
        </p:nvSpPr>
        <p:spPr>
          <a:xfrm>
            <a:off x="5221224" y="2926080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6620256" y="1828800"/>
            <a:ext cx="1874520" cy="1325880"/>
          </a:xfrm>
          <a:prstGeom prst="rect">
            <a:avLst/>
          </a:prstGeom>
          <a:solidFill>
            <a:srgbClr val="14141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9984" y="19202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WHOOP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037576" y="192024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729984" y="2121408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DATA/TECH-FIRST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665976" y="23225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500" dirty="0"/>
          </a:p>
        </p:txBody>
      </p:sp>
      <p:sp>
        <p:nvSpPr>
          <p:cNvPr id="59" name="Shape 57"/>
          <p:cNvSpPr/>
          <p:nvPr/>
        </p:nvSpPr>
        <p:spPr>
          <a:xfrm>
            <a:off x="7260336" y="2331720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6665976" y="244144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500" dirty="0"/>
          </a:p>
        </p:txBody>
      </p:sp>
      <p:sp>
        <p:nvSpPr>
          <p:cNvPr id="61" name="Shape 59"/>
          <p:cNvSpPr/>
          <p:nvPr/>
        </p:nvSpPr>
        <p:spPr>
          <a:xfrm>
            <a:off x="7260336" y="2450592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665976" y="256032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7260336" y="2569464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665976" y="26791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500" dirty="0"/>
          </a:p>
        </p:txBody>
      </p:sp>
      <p:sp>
        <p:nvSpPr>
          <p:cNvPr id="65" name="Shape 63"/>
          <p:cNvSpPr/>
          <p:nvPr/>
        </p:nvSpPr>
        <p:spPr>
          <a:xfrm>
            <a:off x="7260336" y="2688336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665976" y="279806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500" dirty="0"/>
          </a:p>
        </p:txBody>
      </p:sp>
      <p:sp>
        <p:nvSpPr>
          <p:cNvPr id="67" name="Shape 65"/>
          <p:cNvSpPr/>
          <p:nvPr/>
        </p:nvSpPr>
        <p:spPr>
          <a:xfrm>
            <a:off x="7260336" y="2807208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6665976" y="291693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Sys</a:t>
            </a:r>
            <a:endParaRPr lang="en-US" sz="500" dirty="0"/>
          </a:p>
        </p:txBody>
      </p:sp>
      <p:sp>
        <p:nvSpPr>
          <p:cNvPr id="69" name="Shape 67"/>
          <p:cNvSpPr/>
          <p:nvPr/>
        </p:nvSpPr>
        <p:spPr>
          <a:xfrm>
            <a:off x="7260336" y="2926080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502920" y="3319272"/>
            <a:ext cx="1874520" cy="1325880"/>
          </a:xfrm>
          <a:prstGeom prst="rect">
            <a:avLst/>
          </a:prstGeom>
          <a:solidFill>
            <a:srgbClr val="14141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648" y="34107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Health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920240" y="341071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12648" y="3611880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CLINICAL-FIRST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548640" y="381304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500" dirty="0"/>
          </a:p>
        </p:txBody>
      </p:sp>
      <p:sp>
        <p:nvSpPr>
          <p:cNvPr id="75" name="Shape 73"/>
          <p:cNvSpPr/>
          <p:nvPr/>
        </p:nvSpPr>
        <p:spPr>
          <a:xfrm>
            <a:off x="1143000" y="3822192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76" name="Text 74"/>
          <p:cNvSpPr/>
          <p:nvPr/>
        </p:nvSpPr>
        <p:spPr>
          <a:xfrm>
            <a:off x="548640" y="393192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500" dirty="0"/>
          </a:p>
        </p:txBody>
      </p:sp>
      <p:sp>
        <p:nvSpPr>
          <p:cNvPr id="77" name="Shape 75"/>
          <p:cNvSpPr/>
          <p:nvPr/>
        </p:nvSpPr>
        <p:spPr>
          <a:xfrm>
            <a:off x="1143000" y="3941064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548640" y="40507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</a:t>
            </a:r>
            <a:endParaRPr lang="en-US" sz="500" dirty="0"/>
          </a:p>
        </p:txBody>
      </p:sp>
      <p:sp>
        <p:nvSpPr>
          <p:cNvPr id="79" name="Shape 77"/>
          <p:cNvSpPr/>
          <p:nvPr/>
        </p:nvSpPr>
        <p:spPr>
          <a:xfrm>
            <a:off x="1143000" y="4059936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548640" y="416966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500" dirty="0"/>
          </a:p>
        </p:txBody>
      </p:sp>
      <p:sp>
        <p:nvSpPr>
          <p:cNvPr id="81" name="Shape 79"/>
          <p:cNvSpPr/>
          <p:nvPr/>
        </p:nvSpPr>
        <p:spPr>
          <a:xfrm>
            <a:off x="1143000" y="4178808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548640" y="428853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500" dirty="0"/>
          </a:p>
        </p:txBody>
      </p:sp>
      <p:sp>
        <p:nvSpPr>
          <p:cNvPr id="83" name="Shape 81"/>
          <p:cNvSpPr/>
          <p:nvPr/>
        </p:nvSpPr>
        <p:spPr>
          <a:xfrm>
            <a:off x="1143000" y="4297680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548640" y="44074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Sys</a:t>
            </a:r>
            <a:endParaRPr lang="en-US" sz="500" dirty="0"/>
          </a:p>
        </p:txBody>
      </p:sp>
      <p:sp>
        <p:nvSpPr>
          <p:cNvPr id="85" name="Shape 83"/>
          <p:cNvSpPr/>
          <p:nvPr/>
        </p:nvSpPr>
        <p:spPr>
          <a:xfrm>
            <a:off x="1143000" y="4416552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2542032" y="3319272"/>
            <a:ext cx="1874520" cy="1325880"/>
          </a:xfrm>
          <a:prstGeom prst="rect">
            <a:avLst/>
          </a:prstGeom>
          <a:solidFill>
            <a:srgbClr val="14141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51760" y="34107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3959352" y="341071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2651760" y="3611880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COMMUNITY-FIRST</a:t>
            </a:r>
            <a:endParaRPr lang="en-US" sz="600" dirty="0"/>
          </a:p>
        </p:txBody>
      </p:sp>
      <p:sp>
        <p:nvSpPr>
          <p:cNvPr id="90" name="Text 88"/>
          <p:cNvSpPr/>
          <p:nvPr/>
        </p:nvSpPr>
        <p:spPr>
          <a:xfrm>
            <a:off x="2587752" y="381304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500" dirty="0"/>
          </a:p>
        </p:txBody>
      </p:sp>
      <p:sp>
        <p:nvSpPr>
          <p:cNvPr id="91" name="Shape 89"/>
          <p:cNvSpPr/>
          <p:nvPr/>
        </p:nvSpPr>
        <p:spPr>
          <a:xfrm>
            <a:off x="3182112" y="3822192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92" name="Text 90"/>
          <p:cNvSpPr/>
          <p:nvPr/>
        </p:nvSpPr>
        <p:spPr>
          <a:xfrm>
            <a:off x="2587752" y="393192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500" dirty="0"/>
          </a:p>
        </p:txBody>
      </p:sp>
      <p:sp>
        <p:nvSpPr>
          <p:cNvPr id="93" name="Shape 91"/>
          <p:cNvSpPr/>
          <p:nvPr/>
        </p:nvSpPr>
        <p:spPr>
          <a:xfrm>
            <a:off x="3182112" y="3941064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2587752" y="40507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3182112" y="4059936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96" name="Text 94"/>
          <p:cNvSpPr/>
          <p:nvPr/>
        </p:nvSpPr>
        <p:spPr>
          <a:xfrm>
            <a:off x="2587752" y="416966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500" dirty="0"/>
          </a:p>
        </p:txBody>
      </p:sp>
      <p:sp>
        <p:nvSpPr>
          <p:cNvPr id="97" name="Shape 95"/>
          <p:cNvSpPr/>
          <p:nvPr/>
        </p:nvSpPr>
        <p:spPr>
          <a:xfrm>
            <a:off x="3182112" y="4178808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98" name="Text 96"/>
          <p:cNvSpPr/>
          <p:nvPr/>
        </p:nvSpPr>
        <p:spPr>
          <a:xfrm>
            <a:off x="2587752" y="428853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500" dirty="0"/>
          </a:p>
        </p:txBody>
      </p:sp>
      <p:sp>
        <p:nvSpPr>
          <p:cNvPr id="99" name="Shape 97"/>
          <p:cNvSpPr/>
          <p:nvPr/>
        </p:nvSpPr>
        <p:spPr>
          <a:xfrm>
            <a:off x="3182112" y="4297680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2587752" y="44074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Sys</a:t>
            </a:r>
            <a:endParaRPr lang="en-US" sz="500" dirty="0"/>
          </a:p>
        </p:txBody>
      </p:sp>
      <p:sp>
        <p:nvSpPr>
          <p:cNvPr id="101" name="Shape 99"/>
          <p:cNvSpPr/>
          <p:nvPr/>
        </p:nvSpPr>
        <p:spPr>
          <a:xfrm>
            <a:off x="3182112" y="4416552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4581144" y="3319272"/>
            <a:ext cx="1874520" cy="1325880"/>
          </a:xfrm>
          <a:prstGeom prst="rect">
            <a:avLst/>
          </a:prstGeom>
          <a:solidFill>
            <a:srgbClr val="14141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690872" y="34107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Peloton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5998464" y="341071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4690872" y="3611880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COMMUNITY-FIRST</a:t>
            </a:r>
            <a:endParaRPr lang="en-US" sz="600" dirty="0"/>
          </a:p>
        </p:txBody>
      </p:sp>
      <p:sp>
        <p:nvSpPr>
          <p:cNvPr id="106" name="Text 104"/>
          <p:cNvSpPr/>
          <p:nvPr/>
        </p:nvSpPr>
        <p:spPr>
          <a:xfrm>
            <a:off x="4626864" y="381304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500" dirty="0"/>
          </a:p>
        </p:txBody>
      </p:sp>
      <p:sp>
        <p:nvSpPr>
          <p:cNvPr id="107" name="Shape 105"/>
          <p:cNvSpPr/>
          <p:nvPr/>
        </p:nvSpPr>
        <p:spPr>
          <a:xfrm>
            <a:off x="5221224" y="3822192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108" name="Text 106"/>
          <p:cNvSpPr/>
          <p:nvPr/>
        </p:nvSpPr>
        <p:spPr>
          <a:xfrm>
            <a:off x="4626864" y="393192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500" dirty="0"/>
          </a:p>
        </p:txBody>
      </p:sp>
      <p:sp>
        <p:nvSpPr>
          <p:cNvPr id="109" name="Shape 107"/>
          <p:cNvSpPr/>
          <p:nvPr/>
        </p:nvSpPr>
        <p:spPr>
          <a:xfrm>
            <a:off x="5221224" y="3941064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110" name="Text 108"/>
          <p:cNvSpPr/>
          <p:nvPr/>
        </p:nvSpPr>
        <p:spPr>
          <a:xfrm>
            <a:off x="4626864" y="40507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</a:t>
            </a:r>
            <a:endParaRPr lang="en-US" sz="500" dirty="0"/>
          </a:p>
        </p:txBody>
      </p:sp>
      <p:sp>
        <p:nvSpPr>
          <p:cNvPr id="111" name="Shape 109"/>
          <p:cNvSpPr/>
          <p:nvPr/>
        </p:nvSpPr>
        <p:spPr>
          <a:xfrm>
            <a:off x="5221224" y="4059936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112" name="Text 110"/>
          <p:cNvSpPr/>
          <p:nvPr/>
        </p:nvSpPr>
        <p:spPr>
          <a:xfrm>
            <a:off x="4626864" y="416966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500" dirty="0"/>
          </a:p>
        </p:txBody>
      </p:sp>
      <p:sp>
        <p:nvSpPr>
          <p:cNvPr id="113" name="Shape 111"/>
          <p:cNvSpPr/>
          <p:nvPr/>
        </p:nvSpPr>
        <p:spPr>
          <a:xfrm>
            <a:off x="5221224" y="4178808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114" name="Text 112"/>
          <p:cNvSpPr/>
          <p:nvPr/>
        </p:nvSpPr>
        <p:spPr>
          <a:xfrm>
            <a:off x="4626864" y="428853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500" dirty="0"/>
          </a:p>
        </p:txBody>
      </p:sp>
      <p:sp>
        <p:nvSpPr>
          <p:cNvPr id="115" name="Shape 113"/>
          <p:cNvSpPr/>
          <p:nvPr/>
        </p:nvSpPr>
        <p:spPr>
          <a:xfrm>
            <a:off x="5221224" y="4297680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116" name="Text 114"/>
          <p:cNvSpPr/>
          <p:nvPr/>
        </p:nvSpPr>
        <p:spPr>
          <a:xfrm>
            <a:off x="4626864" y="44074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Sys</a:t>
            </a:r>
            <a:endParaRPr lang="en-US" sz="500" dirty="0"/>
          </a:p>
        </p:txBody>
      </p:sp>
      <p:sp>
        <p:nvSpPr>
          <p:cNvPr id="117" name="Shape 115"/>
          <p:cNvSpPr/>
          <p:nvPr/>
        </p:nvSpPr>
        <p:spPr>
          <a:xfrm>
            <a:off x="5221224" y="4416552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6620256" y="3319272"/>
            <a:ext cx="1874520" cy="1325880"/>
          </a:xfrm>
          <a:prstGeom prst="rect">
            <a:avLst/>
          </a:prstGeom>
          <a:solidFill>
            <a:srgbClr val="141414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729984" y="34107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8037576" y="341071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6729984" y="3611880"/>
            <a:ext cx="1655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PHYSICAL-FIRST</a:t>
            </a:r>
            <a:endParaRPr lang="en-US" sz="600" dirty="0"/>
          </a:p>
        </p:txBody>
      </p:sp>
      <p:sp>
        <p:nvSpPr>
          <p:cNvPr id="122" name="Text 120"/>
          <p:cNvSpPr/>
          <p:nvPr/>
        </p:nvSpPr>
        <p:spPr>
          <a:xfrm>
            <a:off x="6665976" y="381304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500" dirty="0"/>
          </a:p>
        </p:txBody>
      </p:sp>
      <p:sp>
        <p:nvSpPr>
          <p:cNvPr id="123" name="Shape 121"/>
          <p:cNvSpPr/>
          <p:nvPr/>
        </p:nvSpPr>
        <p:spPr>
          <a:xfrm>
            <a:off x="7260336" y="3822192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124" name="Text 122"/>
          <p:cNvSpPr/>
          <p:nvPr/>
        </p:nvSpPr>
        <p:spPr>
          <a:xfrm>
            <a:off x="6665976" y="393192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500" dirty="0"/>
          </a:p>
        </p:txBody>
      </p:sp>
      <p:sp>
        <p:nvSpPr>
          <p:cNvPr id="125" name="Shape 123"/>
          <p:cNvSpPr/>
          <p:nvPr/>
        </p:nvSpPr>
        <p:spPr>
          <a:xfrm>
            <a:off x="7260336" y="3941064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126" name="Text 124"/>
          <p:cNvSpPr/>
          <p:nvPr/>
        </p:nvSpPr>
        <p:spPr>
          <a:xfrm>
            <a:off x="6665976" y="40507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</a:t>
            </a:r>
            <a:endParaRPr lang="en-US" sz="500" dirty="0"/>
          </a:p>
        </p:txBody>
      </p:sp>
      <p:sp>
        <p:nvSpPr>
          <p:cNvPr id="127" name="Shape 125"/>
          <p:cNvSpPr/>
          <p:nvPr/>
        </p:nvSpPr>
        <p:spPr>
          <a:xfrm>
            <a:off x="7260336" y="4059936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  <p:sp>
        <p:nvSpPr>
          <p:cNvPr id="128" name="Text 126"/>
          <p:cNvSpPr/>
          <p:nvPr/>
        </p:nvSpPr>
        <p:spPr>
          <a:xfrm>
            <a:off x="6665976" y="416966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500" dirty="0"/>
          </a:p>
        </p:txBody>
      </p:sp>
      <p:sp>
        <p:nvSpPr>
          <p:cNvPr id="129" name="Shape 127"/>
          <p:cNvSpPr/>
          <p:nvPr/>
        </p:nvSpPr>
        <p:spPr>
          <a:xfrm>
            <a:off x="7260336" y="4178808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130" name="Text 128"/>
          <p:cNvSpPr/>
          <p:nvPr/>
        </p:nvSpPr>
        <p:spPr>
          <a:xfrm>
            <a:off x="6665976" y="428853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500" dirty="0"/>
          </a:p>
        </p:txBody>
      </p:sp>
      <p:sp>
        <p:nvSpPr>
          <p:cNvPr id="131" name="Shape 129"/>
          <p:cNvSpPr/>
          <p:nvPr/>
        </p:nvSpPr>
        <p:spPr>
          <a:xfrm>
            <a:off x="7260336" y="4297680"/>
            <a:ext cx="1097280" cy="82296"/>
          </a:xfrm>
          <a:prstGeom prst="rect">
            <a:avLst/>
          </a:prstGeom>
          <a:solidFill>
            <a:srgbClr val="C8A44E">
              <a:alpha val="60000"/>
            </a:srgbClr>
          </a:solidFill>
          <a:ln/>
        </p:spPr>
      </p:sp>
      <p:sp>
        <p:nvSpPr>
          <p:cNvPr id="132" name="Text 130"/>
          <p:cNvSpPr/>
          <p:nvPr/>
        </p:nvSpPr>
        <p:spPr>
          <a:xfrm>
            <a:off x="6665976" y="44074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Sys</a:t>
            </a:r>
            <a:endParaRPr lang="en-US" sz="500" dirty="0"/>
          </a:p>
        </p:txBody>
      </p:sp>
      <p:sp>
        <p:nvSpPr>
          <p:cNvPr id="133" name="Shape 131"/>
          <p:cNvSpPr/>
          <p:nvPr/>
        </p:nvSpPr>
        <p:spPr>
          <a:xfrm>
            <a:off x="7260336" y="4416552"/>
            <a:ext cx="1097280" cy="82296"/>
          </a:xfrm>
          <a:prstGeom prst="rect">
            <a:avLst/>
          </a:prstGeom>
          <a:solidFill>
            <a:srgbClr val="444444">
              <a:alpha val="30000"/>
            </a:srgbClr>
          </a:solidFill>
          <a:ln w="6350">
            <a:solidFill>
              <a:srgbClr val="C8A44E"/>
            </a:solidFill>
            <a:prstDash val="dash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INTEGRATION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vs. Disconnected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offer disconnected nodes. ALCHE builds a fully connected graph.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COMPETITOR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SILOS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377440" y="2331720"/>
            <a:ext cx="871083" cy="50292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4343400"/>
            <a:ext cx="-871083" cy="-50292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76272" y="2130552"/>
            <a:ext cx="402336" cy="402336"/>
          </a:xfrm>
          <a:prstGeom prst="ellipse">
            <a:avLst/>
          </a:prstGeom>
          <a:solidFill>
            <a:srgbClr val="141414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27685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047355" y="2633472"/>
            <a:ext cx="402336" cy="402336"/>
          </a:xfrm>
          <a:prstGeom prst="ellipse">
            <a:avLst/>
          </a:prstGeom>
          <a:solidFill>
            <a:srgbClr val="141414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4203" y="27797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047355" y="3639312"/>
            <a:ext cx="402336" cy="402336"/>
          </a:xfrm>
          <a:prstGeom prst="ellipse">
            <a:avLst/>
          </a:prstGeom>
          <a:solidFill>
            <a:srgbClr val="141414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4203" y="378561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176272" y="4142232"/>
            <a:ext cx="402336" cy="402336"/>
          </a:xfrm>
          <a:prstGeom prst="ellipse">
            <a:avLst/>
          </a:prstGeom>
          <a:solidFill>
            <a:srgbClr val="141414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428853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305189" y="3639312"/>
            <a:ext cx="402336" cy="402336"/>
          </a:xfrm>
          <a:prstGeom prst="ellipse">
            <a:avLst/>
          </a:prstGeom>
          <a:solidFill>
            <a:srgbClr val="141414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2037" y="378561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305189" y="2633472"/>
            <a:ext cx="402336" cy="402336"/>
          </a:xfrm>
          <a:prstGeom prst="ellipse">
            <a:avLst/>
          </a:prstGeom>
          <a:solidFill>
            <a:srgbClr val="141414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2037" y="27797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920240" y="3246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0" y="1965960"/>
            <a:ext cx="0" cy="2926080"/>
          </a:xfrm>
          <a:prstGeom prst="line">
            <a:avLst/>
          </a:prstGeom>
          <a:noFill/>
          <a:ln w="1016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1945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INTEGRATED GRAPH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766560" y="2331720"/>
            <a:ext cx="871083" cy="50292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2331720"/>
            <a:ext cx="871083" cy="150876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2331720"/>
            <a:ext cx="0" cy="201168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2331720"/>
            <a:ext cx="-871083" cy="150876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2331720"/>
            <a:ext cx="-871083" cy="50292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37643" y="2834640"/>
            <a:ext cx="0" cy="100584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37643" y="2834640"/>
            <a:ext cx="-871083" cy="150876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37643" y="2834640"/>
            <a:ext cx="-1742166" cy="100584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7643" y="2834640"/>
            <a:ext cx="-1742166" cy="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7643" y="3840480"/>
            <a:ext cx="-871083" cy="50292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37643" y="3840480"/>
            <a:ext cx="-1742166" cy="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37643" y="3840480"/>
            <a:ext cx="-1742166" cy="-100584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4343400"/>
            <a:ext cx="-871083" cy="-50292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4343400"/>
            <a:ext cx="-871083" cy="-150876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5477" y="3840480"/>
            <a:ext cx="0" cy="-1005840"/>
          </a:xfrm>
          <a:prstGeom prst="line">
            <a:avLst/>
          </a:prstGeom>
          <a:noFill/>
          <a:ln w="3810">
            <a:solidFill>
              <a:srgbClr val="C8A44E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0" y="3337560"/>
            <a:ext cx="0" cy="-1005840"/>
          </a:xfrm>
          <a:prstGeom prst="line">
            <a:avLst/>
          </a:prstGeom>
          <a:noFill/>
          <a:ln w="15240">
            <a:solidFill>
              <a:srgbClr val="C8A44E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0" y="3337560"/>
            <a:ext cx="871083" cy="-502920"/>
          </a:xfrm>
          <a:prstGeom prst="line">
            <a:avLst/>
          </a:prstGeom>
          <a:noFill/>
          <a:ln w="15240">
            <a:solidFill>
              <a:srgbClr val="C8A44E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66560" y="3337560"/>
            <a:ext cx="871083" cy="502920"/>
          </a:xfrm>
          <a:prstGeom prst="line">
            <a:avLst/>
          </a:prstGeom>
          <a:noFill/>
          <a:ln w="15240">
            <a:solidFill>
              <a:srgbClr val="C8A44E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3337560"/>
            <a:ext cx="0" cy="1005840"/>
          </a:xfrm>
          <a:prstGeom prst="line">
            <a:avLst/>
          </a:prstGeom>
          <a:noFill/>
          <a:ln w="15240">
            <a:solidFill>
              <a:srgbClr val="C8A44E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3337560"/>
            <a:ext cx="-871083" cy="502920"/>
          </a:xfrm>
          <a:prstGeom prst="line">
            <a:avLst/>
          </a:prstGeom>
          <a:noFill/>
          <a:ln w="15240">
            <a:solidFill>
              <a:srgbClr val="C8A44E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66560" y="3337560"/>
            <a:ext cx="-871083" cy="-502920"/>
          </a:xfrm>
          <a:prstGeom prst="line">
            <a:avLst/>
          </a:prstGeom>
          <a:noFill/>
          <a:ln w="15240">
            <a:solidFill>
              <a:srgbClr val="C8A44E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65392" y="3136392"/>
            <a:ext cx="402336" cy="402336"/>
          </a:xfrm>
          <a:prstGeom prst="ellipse">
            <a:avLst/>
          </a:prstGeom>
          <a:solidFill>
            <a:srgbClr val="C8A44E">
              <a:alpha val="25000"/>
            </a:srgbClr>
          </a:solidFill>
          <a:ln w="19050">
            <a:solidFill>
              <a:srgbClr val="C8A44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3291840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565392" y="2130552"/>
            <a:ext cx="402336" cy="402336"/>
          </a:xfrm>
          <a:prstGeom prst="ellipse">
            <a:avLst/>
          </a:prstGeom>
          <a:solidFill>
            <a:srgbClr val="C8A44E">
              <a:alpha val="12000"/>
            </a:srgbClr>
          </a:solidFill>
          <a:ln w="15240">
            <a:solidFill>
              <a:srgbClr val="C8A44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227685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436475" y="2633472"/>
            <a:ext cx="402336" cy="402336"/>
          </a:xfrm>
          <a:prstGeom prst="ellipse">
            <a:avLst/>
          </a:prstGeom>
          <a:solidFill>
            <a:srgbClr val="C8A44E">
              <a:alpha val="12000"/>
            </a:srgbClr>
          </a:solidFill>
          <a:ln w="15240">
            <a:solidFill>
              <a:srgbClr val="C8A44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63323" y="27797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436475" y="3639312"/>
            <a:ext cx="402336" cy="402336"/>
          </a:xfrm>
          <a:prstGeom prst="ellipse">
            <a:avLst/>
          </a:prstGeom>
          <a:solidFill>
            <a:srgbClr val="C8A44E">
              <a:alpha val="12000"/>
            </a:srgbClr>
          </a:solidFill>
          <a:ln w="15240">
            <a:solidFill>
              <a:srgbClr val="C8A44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63323" y="378561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565392" y="4142232"/>
            <a:ext cx="402336" cy="402336"/>
          </a:xfrm>
          <a:prstGeom prst="ellipse">
            <a:avLst/>
          </a:prstGeom>
          <a:solidFill>
            <a:srgbClr val="C8A44E">
              <a:alpha val="12000"/>
            </a:srgbClr>
          </a:solidFill>
          <a:ln w="15240">
            <a:solidFill>
              <a:srgbClr val="C8A44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2240" y="428853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694309" y="3639312"/>
            <a:ext cx="402336" cy="402336"/>
          </a:xfrm>
          <a:prstGeom prst="ellipse">
            <a:avLst/>
          </a:prstGeom>
          <a:solidFill>
            <a:srgbClr val="C8A44E">
              <a:alpha val="12000"/>
            </a:srgbClr>
          </a:solidFill>
          <a:ln w="15240">
            <a:solidFill>
              <a:srgbClr val="C8A44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21157" y="378561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694309" y="2633472"/>
            <a:ext cx="402336" cy="402336"/>
          </a:xfrm>
          <a:prstGeom prst="ellipse">
            <a:avLst/>
          </a:prstGeom>
          <a:solidFill>
            <a:srgbClr val="C8A44E">
              <a:alpha val="12000"/>
            </a:srgbClr>
          </a:solidFill>
          <a:ln w="15240">
            <a:solidFill>
              <a:srgbClr val="C8A44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21157" y="27797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C8A44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0" kern="0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ALCHE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platform to integrate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C8A4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pillars of modern wellness.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Space  ·  Products  ·  AI App  ·  Membership  ·  Community  ·  Integrated Info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Positioning Analysis /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ALCHE — Competitive Positioning</dc:title>
  <dc:subject>PptxGenJS Presentation</dc:subject>
  <dc:creator>ALCHE</dc:creator>
  <cp:lastModifiedBy>ALCHE</cp:lastModifiedBy>
  <cp:revision>1</cp:revision>
  <dcterms:created xsi:type="dcterms:W3CDTF">2026-02-19T16:37:53Z</dcterms:created>
  <dcterms:modified xsi:type="dcterms:W3CDTF">2026-02-19T16:37:53Z</dcterms:modified>
</cp:coreProperties>
</file>